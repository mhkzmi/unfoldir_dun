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37"/>
  </p:notesMasterIdLst>
  <p:sldIdLst>
    <p:sldId id="256" r:id="rId2"/>
    <p:sldId id="258" r:id="rId3"/>
    <p:sldId id="260" r:id="rId4"/>
    <p:sldId id="261" r:id="rId5"/>
    <p:sldId id="312" r:id="rId6"/>
    <p:sldId id="313" r:id="rId7"/>
    <p:sldId id="314" r:id="rId8"/>
    <p:sldId id="315" r:id="rId9"/>
    <p:sldId id="316" r:id="rId10"/>
    <p:sldId id="317" r:id="rId11"/>
    <p:sldId id="318" r:id="rId12"/>
    <p:sldId id="319" r:id="rId13"/>
    <p:sldId id="320" r:id="rId14"/>
    <p:sldId id="321" r:id="rId15"/>
    <p:sldId id="322" r:id="rId16"/>
    <p:sldId id="323" r:id="rId17"/>
    <p:sldId id="324" r:id="rId18"/>
    <p:sldId id="325" r:id="rId19"/>
    <p:sldId id="326" r:id="rId20"/>
    <p:sldId id="327" r:id="rId21"/>
    <p:sldId id="328" r:id="rId22"/>
    <p:sldId id="329" r:id="rId23"/>
    <p:sldId id="330" r:id="rId24"/>
    <p:sldId id="331" r:id="rId25"/>
    <p:sldId id="332" r:id="rId26"/>
    <p:sldId id="333" r:id="rId27"/>
    <p:sldId id="334" r:id="rId28"/>
    <p:sldId id="335" r:id="rId29"/>
    <p:sldId id="336" r:id="rId30"/>
    <p:sldId id="337" r:id="rId31"/>
    <p:sldId id="338" r:id="rId32"/>
    <p:sldId id="339" r:id="rId33"/>
    <p:sldId id="340" r:id="rId34"/>
    <p:sldId id="341" r:id="rId35"/>
    <p:sldId id="342" r:id="rId36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8"/>
    </p:embeddedFont>
    <p:embeddedFont>
      <p:font typeface="Commissioner" panose="020B0604020202020204" charset="0"/>
      <p:regular r:id="rId39"/>
      <p:bold r:id="rId40"/>
    </p:embeddedFont>
    <p:embeddedFont>
      <p:font typeface="Golos Text" panose="020B0604020202020204" charset="0"/>
      <p:regular r:id="rId41"/>
      <p:bold r:id="rId42"/>
    </p:embeddedFont>
    <p:embeddedFont>
      <p:font typeface="Golos Text SemiBold" panose="020B0604020202020204" charset="0"/>
      <p:regular r:id="rId43"/>
      <p:bold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318603-D213-463D-A8D7-90B5EDBB929D}">
  <a:tblStyle styleId="{CA318603-D213-463D-A8D7-90B5EDBB929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20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747bfd1ede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747bfd1ede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747bfd1ede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747bfd1ede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336d459b97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336d459b97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3b627a129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3b627a129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>
          <a:extLst>
            <a:ext uri="{FF2B5EF4-FFF2-40B4-BE49-F238E27FC236}">
              <a16:creationId xmlns:a16="http://schemas.microsoft.com/office/drawing/2014/main" id="{1682A56F-EAFB-5978-100B-25D9BF422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13e1fc50fc5_0_19:notes">
            <a:extLst>
              <a:ext uri="{FF2B5EF4-FFF2-40B4-BE49-F238E27FC236}">
                <a16:creationId xmlns:a16="http://schemas.microsoft.com/office/drawing/2014/main" id="{C1478833-09AD-6FD2-AC47-9887BCD1BC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13e1fc50fc5_0_19:notes">
            <a:extLst>
              <a:ext uri="{FF2B5EF4-FFF2-40B4-BE49-F238E27FC236}">
                <a16:creationId xmlns:a16="http://schemas.microsoft.com/office/drawing/2014/main" id="{E01EE453-AD8B-798E-1364-8D53906C8D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3152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0F2C267E-F889-F64D-FD03-0E00DCF33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336d459b97_0_8:notes">
            <a:extLst>
              <a:ext uri="{FF2B5EF4-FFF2-40B4-BE49-F238E27FC236}">
                <a16:creationId xmlns:a16="http://schemas.microsoft.com/office/drawing/2014/main" id="{3527ADF4-EE85-E6EC-B1A2-DA2D71DB8C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336d459b97_0_8:notes">
            <a:extLst>
              <a:ext uri="{FF2B5EF4-FFF2-40B4-BE49-F238E27FC236}">
                <a16:creationId xmlns:a16="http://schemas.microsoft.com/office/drawing/2014/main" id="{0E9D870F-3B41-49A7-B42A-C44AA63C67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39901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017A9756-48B8-4B98-B1D3-75955DA6F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3b627a1299_0_0:notes">
            <a:extLst>
              <a:ext uri="{FF2B5EF4-FFF2-40B4-BE49-F238E27FC236}">
                <a16:creationId xmlns:a16="http://schemas.microsoft.com/office/drawing/2014/main" id="{46D9053E-AB77-912E-9B73-224ADD7AE3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3b627a1299_0_0:notes">
            <a:extLst>
              <a:ext uri="{FF2B5EF4-FFF2-40B4-BE49-F238E27FC236}">
                <a16:creationId xmlns:a16="http://schemas.microsoft.com/office/drawing/2014/main" id="{9E4D638D-19AC-16A7-E13E-8EB218EA76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28595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169E7AF5-1C26-1C92-12D8-931C9A815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336d459b97_0_8:notes">
            <a:extLst>
              <a:ext uri="{FF2B5EF4-FFF2-40B4-BE49-F238E27FC236}">
                <a16:creationId xmlns:a16="http://schemas.microsoft.com/office/drawing/2014/main" id="{4EECFEA0-94A6-28DD-ED59-BC4745DE8E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336d459b97_0_8:notes">
            <a:extLst>
              <a:ext uri="{FF2B5EF4-FFF2-40B4-BE49-F238E27FC236}">
                <a16:creationId xmlns:a16="http://schemas.microsoft.com/office/drawing/2014/main" id="{F95629CB-91FC-CE63-5E8A-72B75F09E5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48875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33AB2137-33AA-8D82-C471-BC55C5316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3b627a1299_0_0:notes">
            <a:extLst>
              <a:ext uri="{FF2B5EF4-FFF2-40B4-BE49-F238E27FC236}">
                <a16:creationId xmlns:a16="http://schemas.microsoft.com/office/drawing/2014/main" id="{6E4579DE-FFAA-12D9-C51F-09E878DF41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3b627a1299_0_0:notes">
            <a:extLst>
              <a:ext uri="{FF2B5EF4-FFF2-40B4-BE49-F238E27FC236}">
                <a16:creationId xmlns:a16="http://schemas.microsoft.com/office/drawing/2014/main" id="{F15FA6DE-F5AF-112D-A1D2-84F28024E3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88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F140D735-E963-8A3A-6BE7-92B9B6904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336d459b97_0_8:notes">
            <a:extLst>
              <a:ext uri="{FF2B5EF4-FFF2-40B4-BE49-F238E27FC236}">
                <a16:creationId xmlns:a16="http://schemas.microsoft.com/office/drawing/2014/main" id="{ED9C4AF1-164C-5C8E-3F19-B5A1416679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336d459b97_0_8:notes">
            <a:extLst>
              <a:ext uri="{FF2B5EF4-FFF2-40B4-BE49-F238E27FC236}">
                <a16:creationId xmlns:a16="http://schemas.microsoft.com/office/drawing/2014/main" id="{ADA31BB9-E18D-F51C-3238-DC432EDF08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99567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7DD8F1E8-E53C-C5A1-FAB7-1D7844EE7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3b627a1299_0_0:notes">
            <a:extLst>
              <a:ext uri="{FF2B5EF4-FFF2-40B4-BE49-F238E27FC236}">
                <a16:creationId xmlns:a16="http://schemas.microsoft.com/office/drawing/2014/main" id="{CA1BF21E-4A47-9D3B-3170-A3EAFB0D37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3b627a1299_0_0:notes">
            <a:extLst>
              <a:ext uri="{FF2B5EF4-FFF2-40B4-BE49-F238E27FC236}">
                <a16:creationId xmlns:a16="http://schemas.microsoft.com/office/drawing/2014/main" id="{DC786B16-4806-1665-EE57-F1BE340BD5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41125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93A25AB5-604E-D7CB-6050-4E01BC29B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336d459b97_0_8:notes">
            <a:extLst>
              <a:ext uri="{FF2B5EF4-FFF2-40B4-BE49-F238E27FC236}">
                <a16:creationId xmlns:a16="http://schemas.microsoft.com/office/drawing/2014/main" id="{1CF906D7-0C0A-ED75-1A47-D7CAD33D19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336d459b97_0_8:notes">
            <a:extLst>
              <a:ext uri="{FF2B5EF4-FFF2-40B4-BE49-F238E27FC236}">
                <a16:creationId xmlns:a16="http://schemas.microsoft.com/office/drawing/2014/main" id="{8870D69C-BDE1-9E74-FF6F-9D9BB5B167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16927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9BF04A6C-C36D-8972-9360-C63F235B1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3b627a1299_0_0:notes">
            <a:extLst>
              <a:ext uri="{FF2B5EF4-FFF2-40B4-BE49-F238E27FC236}">
                <a16:creationId xmlns:a16="http://schemas.microsoft.com/office/drawing/2014/main" id="{5003EAD6-4000-30B2-5442-01C95409A8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3b627a1299_0_0:notes">
            <a:extLst>
              <a:ext uri="{FF2B5EF4-FFF2-40B4-BE49-F238E27FC236}">
                <a16:creationId xmlns:a16="http://schemas.microsoft.com/office/drawing/2014/main" id="{9D87EB70-6B74-627D-B156-5B8E002F6F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78433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C06ECA9C-1DCC-9E26-81BD-EBB906A37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336d459b97_0_8:notes">
            <a:extLst>
              <a:ext uri="{FF2B5EF4-FFF2-40B4-BE49-F238E27FC236}">
                <a16:creationId xmlns:a16="http://schemas.microsoft.com/office/drawing/2014/main" id="{99AA98B8-686D-091C-E47E-41784F4D1E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336d459b97_0_8:notes">
            <a:extLst>
              <a:ext uri="{FF2B5EF4-FFF2-40B4-BE49-F238E27FC236}">
                <a16:creationId xmlns:a16="http://schemas.microsoft.com/office/drawing/2014/main" id="{D72CDFE3-8817-0EE4-6057-AA735CBF05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79052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1723A19D-1CDF-95B3-DF5E-AF91D1247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3b627a1299_0_0:notes">
            <a:extLst>
              <a:ext uri="{FF2B5EF4-FFF2-40B4-BE49-F238E27FC236}">
                <a16:creationId xmlns:a16="http://schemas.microsoft.com/office/drawing/2014/main" id="{6C0CF6FD-652A-0528-0BEB-5A3E242160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3b627a1299_0_0:notes">
            <a:extLst>
              <a:ext uri="{FF2B5EF4-FFF2-40B4-BE49-F238E27FC236}">
                <a16:creationId xmlns:a16="http://schemas.microsoft.com/office/drawing/2014/main" id="{995FB5F1-74FE-9CFA-AA98-BFD7B385DB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84137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>
          <a:extLst>
            <a:ext uri="{FF2B5EF4-FFF2-40B4-BE49-F238E27FC236}">
              <a16:creationId xmlns:a16="http://schemas.microsoft.com/office/drawing/2014/main" id="{4378CB07-2027-86E3-7D25-FE7D4EC9B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13e1fc50fc5_0_19:notes">
            <a:extLst>
              <a:ext uri="{FF2B5EF4-FFF2-40B4-BE49-F238E27FC236}">
                <a16:creationId xmlns:a16="http://schemas.microsoft.com/office/drawing/2014/main" id="{3DB6B04F-5334-D89A-7BBF-8BDCFDBAFC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13e1fc50fc5_0_19:notes">
            <a:extLst>
              <a:ext uri="{FF2B5EF4-FFF2-40B4-BE49-F238E27FC236}">
                <a16:creationId xmlns:a16="http://schemas.microsoft.com/office/drawing/2014/main" id="{251B5E45-E53B-56F8-B69B-6DB780888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09756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B1240EE3-038D-0CA0-7B7B-DBCA25BEE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336d459b97_0_8:notes">
            <a:extLst>
              <a:ext uri="{FF2B5EF4-FFF2-40B4-BE49-F238E27FC236}">
                <a16:creationId xmlns:a16="http://schemas.microsoft.com/office/drawing/2014/main" id="{31198311-B5CE-4AD8-4825-B5F6BB5306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336d459b97_0_8:notes">
            <a:extLst>
              <a:ext uri="{FF2B5EF4-FFF2-40B4-BE49-F238E27FC236}">
                <a16:creationId xmlns:a16="http://schemas.microsoft.com/office/drawing/2014/main" id="{FD46ED3D-BDFD-B5B7-ADE3-51387E83CC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31085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2A401BB6-631E-0977-A1D6-E84412161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3b627a1299_0_0:notes">
            <a:extLst>
              <a:ext uri="{FF2B5EF4-FFF2-40B4-BE49-F238E27FC236}">
                <a16:creationId xmlns:a16="http://schemas.microsoft.com/office/drawing/2014/main" id="{40451EEA-FBEB-B2A4-04AA-117BBD29F7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3b627a1299_0_0:notes">
            <a:extLst>
              <a:ext uri="{FF2B5EF4-FFF2-40B4-BE49-F238E27FC236}">
                <a16:creationId xmlns:a16="http://schemas.microsoft.com/office/drawing/2014/main" id="{F5597726-7D2E-A209-E75F-519797E31A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44679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F2A1E2CE-031E-ED97-1360-A5B242955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336d459b97_0_8:notes">
            <a:extLst>
              <a:ext uri="{FF2B5EF4-FFF2-40B4-BE49-F238E27FC236}">
                <a16:creationId xmlns:a16="http://schemas.microsoft.com/office/drawing/2014/main" id="{4B264C7D-B65E-1702-5807-60191BE038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336d459b97_0_8:notes">
            <a:extLst>
              <a:ext uri="{FF2B5EF4-FFF2-40B4-BE49-F238E27FC236}">
                <a16:creationId xmlns:a16="http://schemas.microsoft.com/office/drawing/2014/main" id="{379B5CD4-909D-EE1C-2434-B97C9CEBAA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08093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E3118E84-5F35-FF20-EC76-13128754C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3b627a1299_0_0:notes">
            <a:extLst>
              <a:ext uri="{FF2B5EF4-FFF2-40B4-BE49-F238E27FC236}">
                <a16:creationId xmlns:a16="http://schemas.microsoft.com/office/drawing/2014/main" id="{E16B4FA9-D01E-38B6-B6D2-FD629BD549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3b627a1299_0_0:notes">
            <a:extLst>
              <a:ext uri="{FF2B5EF4-FFF2-40B4-BE49-F238E27FC236}">
                <a16:creationId xmlns:a16="http://schemas.microsoft.com/office/drawing/2014/main" id="{3DE7A33C-4319-D607-0230-DB4CFBDBAC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18465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DBB5EA4E-B3FB-1D60-7C98-4636D1BB3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336d459b97_0_8:notes">
            <a:extLst>
              <a:ext uri="{FF2B5EF4-FFF2-40B4-BE49-F238E27FC236}">
                <a16:creationId xmlns:a16="http://schemas.microsoft.com/office/drawing/2014/main" id="{E8A12309-9D40-6A9B-31B6-31C0DC21B2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336d459b97_0_8:notes">
            <a:extLst>
              <a:ext uri="{FF2B5EF4-FFF2-40B4-BE49-F238E27FC236}">
                <a16:creationId xmlns:a16="http://schemas.microsoft.com/office/drawing/2014/main" id="{205B2D43-55BF-422F-88A1-B984F619D6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38302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07D15300-CABA-47BE-6272-85D3B8098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3b627a1299_0_0:notes">
            <a:extLst>
              <a:ext uri="{FF2B5EF4-FFF2-40B4-BE49-F238E27FC236}">
                <a16:creationId xmlns:a16="http://schemas.microsoft.com/office/drawing/2014/main" id="{4B63FD6D-FD03-0FDA-BF03-4B0820DC59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3b627a1299_0_0:notes">
            <a:extLst>
              <a:ext uri="{FF2B5EF4-FFF2-40B4-BE49-F238E27FC236}">
                <a16:creationId xmlns:a16="http://schemas.microsoft.com/office/drawing/2014/main" id="{757D8C99-E696-7D03-83EA-5124AC5FB8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76578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169B4483-8313-75EE-1306-B972AFF38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336d459b97_0_8:notes">
            <a:extLst>
              <a:ext uri="{FF2B5EF4-FFF2-40B4-BE49-F238E27FC236}">
                <a16:creationId xmlns:a16="http://schemas.microsoft.com/office/drawing/2014/main" id="{13008471-9B9E-EEB2-47FB-E2010B5D20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336d459b97_0_8:notes">
            <a:extLst>
              <a:ext uri="{FF2B5EF4-FFF2-40B4-BE49-F238E27FC236}">
                <a16:creationId xmlns:a16="http://schemas.microsoft.com/office/drawing/2014/main" id="{4E8A9A35-7775-D72F-9830-1ADDDCE422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81804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203FEE16-23A4-38FD-7DB0-C7A387ED8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3b627a1299_0_0:notes">
            <a:extLst>
              <a:ext uri="{FF2B5EF4-FFF2-40B4-BE49-F238E27FC236}">
                <a16:creationId xmlns:a16="http://schemas.microsoft.com/office/drawing/2014/main" id="{D04F5A8B-5989-D694-6C82-CF50A96CB4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3b627a1299_0_0:notes">
            <a:extLst>
              <a:ext uri="{FF2B5EF4-FFF2-40B4-BE49-F238E27FC236}">
                <a16:creationId xmlns:a16="http://schemas.microsoft.com/office/drawing/2014/main" id="{FA526FCA-42EF-D86C-F89A-93B55C60AB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29703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F59AEA72-522D-FB47-2F4B-528A01C20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336d459b97_0_8:notes">
            <a:extLst>
              <a:ext uri="{FF2B5EF4-FFF2-40B4-BE49-F238E27FC236}">
                <a16:creationId xmlns:a16="http://schemas.microsoft.com/office/drawing/2014/main" id="{B21BA12F-D6B7-BE22-E73C-4DCE5D6F2A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336d459b97_0_8:notes">
            <a:extLst>
              <a:ext uri="{FF2B5EF4-FFF2-40B4-BE49-F238E27FC236}">
                <a16:creationId xmlns:a16="http://schemas.microsoft.com/office/drawing/2014/main" id="{D57D8614-FA1F-5DF5-95AC-0DC43E625A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37255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5B2255BF-2EB4-AE84-C4D1-6DA68ADD6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3b627a1299_0_0:notes">
            <a:extLst>
              <a:ext uri="{FF2B5EF4-FFF2-40B4-BE49-F238E27FC236}">
                <a16:creationId xmlns:a16="http://schemas.microsoft.com/office/drawing/2014/main" id="{9D112F81-F9BA-CB7A-C766-7D2411D3C9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3b627a1299_0_0:notes">
            <a:extLst>
              <a:ext uri="{FF2B5EF4-FFF2-40B4-BE49-F238E27FC236}">
                <a16:creationId xmlns:a16="http://schemas.microsoft.com/office/drawing/2014/main" id="{651E750D-D829-5C81-2661-745AB78DE2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80714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>
          <a:extLst>
            <a:ext uri="{FF2B5EF4-FFF2-40B4-BE49-F238E27FC236}">
              <a16:creationId xmlns:a16="http://schemas.microsoft.com/office/drawing/2014/main" id="{A4FC6695-5B2E-1875-7D77-3117114F3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13e1fc50fc5_0_19:notes">
            <a:extLst>
              <a:ext uri="{FF2B5EF4-FFF2-40B4-BE49-F238E27FC236}">
                <a16:creationId xmlns:a16="http://schemas.microsoft.com/office/drawing/2014/main" id="{646CFC7F-C2F6-9440-836B-6BB4923A65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13e1fc50fc5_0_19:notes">
            <a:extLst>
              <a:ext uri="{FF2B5EF4-FFF2-40B4-BE49-F238E27FC236}">
                <a16:creationId xmlns:a16="http://schemas.microsoft.com/office/drawing/2014/main" id="{376DF58A-E8A9-7811-8C68-C7D0BF3D8F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69698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310CAC7F-852F-9A53-A7A9-7C5C9E0A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336d459b97_0_8:notes">
            <a:extLst>
              <a:ext uri="{FF2B5EF4-FFF2-40B4-BE49-F238E27FC236}">
                <a16:creationId xmlns:a16="http://schemas.microsoft.com/office/drawing/2014/main" id="{22AA22FB-0AE6-85A2-A18D-0348078E47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336d459b97_0_8:notes">
            <a:extLst>
              <a:ext uri="{FF2B5EF4-FFF2-40B4-BE49-F238E27FC236}">
                <a16:creationId xmlns:a16="http://schemas.microsoft.com/office/drawing/2014/main" id="{566C35BC-EE13-4334-B157-54541410AA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743887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1AE60AC7-6C0B-A2DC-0360-4E87C15EF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3b627a1299_0_0:notes">
            <a:extLst>
              <a:ext uri="{FF2B5EF4-FFF2-40B4-BE49-F238E27FC236}">
                <a16:creationId xmlns:a16="http://schemas.microsoft.com/office/drawing/2014/main" id="{EBEFC6C0-8D87-2168-1600-E23E9CF7F9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3b627a1299_0_0:notes">
            <a:extLst>
              <a:ext uri="{FF2B5EF4-FFF2-40B4-BE49-F238E27FC236}">
                <a16:creationId xmlns:a16="http://schemas.microsoft.com/office/drawing/2014/main" id="{22AFF8B1-9E63-042A-87C2-5206462E32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7430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E0BDBBF8-01C3-DE7B-0226-5CA8F20A3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3b627a1299_0_0:notes">
            <a:extLst>
              <a:ext uri="{FF2B5EF4-FFF2-40B4-BE49-F238E27FC236}">
                <a16:creationId xmlns:a16="http://schemas.microsoft.com/office/drawing/2014/main" id="{9252D883-B6DA-BE9F-2DB5-783A382210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3b627a1299_0_0:notes">
            <a:extLst>
              <a:ext uri="{FF2B5EF4-FFF2-40B4-BE49-F238E27FC236}">
                <a16:creationId xmlns:a16="http://schemas.microsoft.com/office/drawing/2014/main" id="{EE4DEC89-34CC-AB66-179F-F387303E88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20141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C35C9FBC-A47B-EF6F-44B1-97B7BCFAD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336d459b97_0_8:notes">
            <a:extLst>
              <a:ext uri="{FF2B5EF4-FFF2-40B4-BE49-F238E27FC236}">
                <a16:creationId xmlns:a16="http://schemas.microsoft.com/office/drawing/2014/main" id="{A22B9043-9046-C7B4-61F5-3D974CB2C0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336d459b97_0_8:notes">
            <a:extLst>
              <a:ext uri="{FF2B5EF4-FFF2-40B4-BE49-F238E27FC236}">
                <a16:creationId xmlns:a16="http://schemas.microsoft.com/office/drawing/2014/main" id="{6350F6D1-30E4-ADC3-DBAC-C537659227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7536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15B4F4EC-A1B9-1781-0301-E574968CB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3b627a1299_0_0:notes">
            <a:extLst>
              <a:ext uri="{FF2B5EF4-FFF2-40B4-BE49-F238E27FC236}">
                <a16:creationId xmlns:a16="http://schemas.microsoft.com/office/drawing/2014/main" id="{252CB0DE-3375-4176-E409-DAECE29343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3b627a1299_0_0:notes">
            <a:extLst>
              <a:ext uri="{FF2B5EF4-FFF2-40B4-BE49-F238E27FC236}">
                <a16:creationId xmlns:a16="http://schemas.microsoft.com/office/drawing/2014/main" id="{AA0EF717-335B-D1A1-AF92-B43C14915A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566323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91FCE534-D512-83B6-AE65-00ECBC539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336d459b97_0_8:notes">
            <a:extLst>
              <a:ext uri="{FF2B5EF4-FFF2-40B4-BE49-F238E27FC236}">
                <a16:creationId xmlns:a16="http://schemas.microsoft.com/office/drawing/2014/main" id="{8DAC12A2-594F-7783-58C8-6E2347CDFB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336d459b97_0_8:notes">
            <a:extLst>
              <a:ext uri="{FF2B5EF4-FFF2-40B4-BE49-F238E27FC236}">
                <a16:creationId xmlns:a16="http://schemas.microsoft.com/office/drawing/2014/main" id="{BB759971-E441-C6FC-BA39-CFFA51FF7F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133508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D6896E25-A05A-A045-FC9C-0F0863D66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3b627a1299_0_0:notes">
            <a:extLst>
              <a:ext uri="{FF2B5EF4-FFF2-40B4-BE49-F238E27FC236}">
                <a16:creationId xmlns:a16="http://schemas.microsoft.com/office/drawing/2014/main" id="{8EB007E9-1B34-F155-2F51-4A6DF98680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3b627a1299_0_0:notes">
            <a:extLst>
              <a:ext uri="{FF2B5EF4-FFF2-40B4-BE49-F238E27FC236}">
                <a16:creationId xmlns:a16="http://schemas.microsoft.com/office/drawing/2014/main" id="{0455729B-18CE-E148-F4FA-59380A5BD8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6377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014550"/>
            <a:ext cx="5602200" cy="221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315975"/>
            <a:ext cx="5602200" cy="7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55375" y="539500"/>
            <a:ext cx="9199350" cy="4604000"/>
            <a:chOff x="-55375" y="539500"/>
            <a:chExt cx="9199350" cy="4604000"/>
          </a:xfrm>
        </p:grpSpPr>
        <p:cxnSp>
          <p:nvCxnSpPr>
            <p:cNvPr id="13" name="Google Shape;13;p2"/>
            <p:cNvCxnSpPr/>
            <p:nvPr/>
          </p:nvCxnSpPr>
          <p:spPr>
            <a:xfrm>
              <a:off x="-55375" y="4608575"/>
              <a:ext cx="4870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4751675" y="539500"/>
              <a:ext cx="4392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1512075" y="2036300"/>
            <a:ext cx="49449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500"/>
              <a:buNone/>
              <a:defRPr sz="4200"/>
            </a:lvl1pPr>
            <a:lvl2pPr lvl="1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 hasCustomPrompt="1"/>
          </p:nvPr>
        </p:nvSpPr>
        <p:spPr>
          <a:xfrm>
            <a:off x="1512075" y="1012500"/>
            <a:ext cx="1076100" cy="87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53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1512075" y="3573275"/>
            <a:ext cx="4944900" cy="6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4273200" y="4876025"/>
            <a:ext cx="487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1962900" y="829786"/>
            <a:ext cx="5218200" cy="133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ubTitle" idx="1"/>
          </p:nvPr>
        </p:nvSpPr>
        <p:spPr>
          <a:xfrm>
            <a:off x="1962900" y="2282714"/>
            <a:ext cx="5218200" cy="203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61" name="Google Shape;61;p9"/>
          <p:cNvSpPr/>
          <p:nvPr/>
        </p:nvSpPr>
        <p:spPr>
          <a:xfrm>
            <a:off x="75" y="4426700"/>
            <a:ext cx="9144000" cy="711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" name="Google Shape;62;p9"/>
          <p:cNvGrpSpPr/>
          <p:nvPr/>
        </p:nvGrpSpPr>
        <p:grpSpPr>
          <a:xfrm>
            <a:off x="712700" y="539500"/>
            <a:ext cx="8431300" cy="4604000"/>
            <a:chOff x="712700" y="539500"/>
            <a:chExt cx="8431300" cy="4604000"/>
          </a:xfrm>
        </p:grpSpPr>
        <p:cxnSp>
          <p:nvCxnSpPr>
            <p:cNvPr id="63" name="Google Shape;63;p9"/>
            <p:cNvCxnSpPr/>
            <p:nvPr/>
          </p:nvCxnSpPr>
          <p:spPr>
            <a:xfrm>
              <a:off x="4572000" y="539500"/>
              <a:ext cx="4572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" name="Google Shape;64;p9"/>
            <p:cNvCxnSpPr/>
            <p:nvPr/>
          </p:nvCxnSpPr>
          <p:spPr>
            <a:xfrm rot="10800000">
              <a:off x="712700" y="1685400"/>
              <a:ext cx="0" cy="3458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title"/>
          </p:nvPr>
        </p:nvSpPr>
        <p:spPr>
          <a:xfrm>
            <a:off x="713225" y="3946875"/>
            <a:ext cx="77175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"/>
          </p:nvPr>
        </p:nvSpPr>
        <p:spPr>
          <a:xfrm>
            <a:off x="1936100" y="2129352"/>
            <a:ext cx="22887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2"/>
          </p:nvPr>
        </p:nvSpPr>
        <p:spPr>
          <a:xfrm>
            <a:off x="1936100" y="1370275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3" hasCustomPrompt="1"/>
          </p:nvPr>
        </p:nvSpPr>
        <p:spPr>
          <a:xfrm>
            <a:off x="993600" y="1483400"/>
            <a:ext cx="876300" cy="115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4"/>
          </p:nvPr>
        </p:nvSpPr>
        <p:spPr>
          <a:xfrm>
            <a:off x="1936100" y="3827175"/>
            <a:ext cx="22887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5"/>
          </p:nvPr>
        </p:nvSpPr>
        <p:spPr>
          <a:xfrm>
            <a:off x="1936100" y="3068200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6" hasCustomPrompt="1"/>
          </p:nvPr>
        </p:nvSpPr>
        <p:spPr>
          <a:xfrm>
            <a:off x="993600" y="3179712"/>
            <a:ext cx="876300" cy="115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7"/>
          </p:nvPr>
        </p:nvSpPr>
        <p:spPr>
          <a:xfrm>
            <a:off x="5969570" y="2129352"/>
            <a:ext cx="22887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8"/>
          </p:nvPr>
        </p:nvSpPr>
        <p:spPr>
          <a:xfrm>
            <a:off x="5969570" y="1370275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9" hasCustomPrompt="1"/>
          </p:nvPr>
        </p:nvSpPr>
        <p:spPr>
          <a:xfrm>
            <a:off x="5033780" y="1483400"/>
            <a:ext cx="876300" cy="115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3"/>
          </p:nvPr>
        </p:nvSpPr>
        <p:spPr>
          <a:xfrm>
            <a:off x="5969570" y="3827175"/>
            <a:ext cx="22887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4"/>
          </p:nvPr>
        </p:nvSpPr>
        <p:spPr>
          <a:xfrm>
            <a:off x="5969570" y="3068200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5" hasCustomPrompt="1"/>
          </p:nvPr>
        </p:nvSpPr>
        <p:spPr>
          <a:xfrm>
            <a:off x="5033780" y="3179712"/>
            <a:ext cx="876300" cy="115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cxnSp>
        <p:nvCxnSpPr>
          <p:cNvPr id="91" name="Google Shape;91;p13"/>
          <p:cNvCxnSpPr/>
          <p:nvPr/>
        </p:nvCxnSpPr>
        <p:spPr>
          <a:xfrm rot="10800000">
            <a:off x="9002100" y="-100"/>
            <a:ext cx="0" cy="265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6" name="Google Shape;266;p33"/>
          <p:cNvCxnSpPr/>
          <p:nvPr/>
        </p:nvCxnSpPr>
        <p:spPr>
          <a:xfrm rot="10800000">
            <a:off x="9002100" y="-100"/>
            <a:ext cx="0" cy="265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7" name="Google Shape;267;p33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8" name="Google Shape;268;p33"/>
          <p:cNvCxnSpPr/>
          <p:nvPr/>
        </p:nvCxnSpPr>
        <p:spPr>
          <a:xfrm>
            <a:off x="4273200" y="4876025"/>
            <a:ext cx="487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9" name="Google Shape;269;p33"/>
          <p:cNvCxnSpPr/>
          <p:nvPr/>
        </p:nvCxnSpPr>
        <p:spPr>
          <a:xfrm rot="10800000">
            <a:off x="711250" y="0"/>
            <a:ext cx="0" cy="413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/>
          <p:nvPr/>
        </p:nvSpPr>
        <p:spPr>
          <a:xfrm rot="10800000">
            <a:off x="125" y="0"/>
            <a:ext cx="716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2" name="Google Shape;272;p34"/>
          <p:cNvGrpSpPr/>
          <p:nvPr/>
        </p:nvGrpSpPr>
        <p:grpSpPr>
          <a:xfrm rot="10800000">
            <a:off x="0" y="363100"/>
            <a:ext cx="8860200" cy="4780400"/>
            <a:chOff x="283800" y="0"/>
            <a:chExt cx="8860200" cy="4780400"/>
          </a:xfrm>
        </p:grpSpPr>
        <p:cxnSp>
          <p:nvCxnSpPr>
            <p:cNvPr id="273" name="Google Shape;273;p34"/>
            <p:cNvCxnSpPr/>
            <p:nvPr/>
          </p:nvCxnSpPr>
          <p:spPr>
            <a:xfrm>
              <a:off x="4273200" y="4780400"/>
              <a:ext cx="4870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4" name="Google Shape;274;p34"/>
            <p:cNvCxnSpPr/>
            <p:nvPr/>
          </p:nvCxnSpPr>
          <p:spPr>
            <a:xfrm rot="10800000">
              <a:off x="28380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56" r:id="rId4"/>
    <p:sldLayoutId id="2147483658" r:id="rId5"/>
    <p:sldLayoutId id="2147483659" r:id="rId6"/>
    <p:sldLayoutId id="2147483679" r:id="rId7"/>
    <p:sldLayoutId id="2147483680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1"/>
          <p:cNvSpPr txBox="1">
            <a:spLocks noGrp="1"/>
          </p:cNvSpPr>
          <p:nvPr>
            <p:ph type="ctrTitle"/>
          </p:nvPr>
        </p:nvSpPr>
        <p:spPr>
          <a:xfrm>
            <a:off x="538479" y="1014550"/>
            <a:ext cx="7227146" cy="9632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/>
              <a:t>UnfoldIR</a:t>
            </a:r>
            <a:r>
              <a:rPr lang="en-US" sz="2400" dirty="0"/>
              <a:t> - Rethinking Deep Unfolding Network in Illumination Degradation Image Restoration</a:t>
            </a:r>
            <a:endParaRPr sz="1800" dirty="0"/>
          </a:p>
        </p:txBody>
      </p:sp>
      <p:sp>
        <p:nvSpPr>
          <p:cNvPr id="292" name="Google Shape;292;p41"/>
          <p:cNvSpPr txBox="1">
            <a:spLocks noGrp="1"/>
          </p:cNvSpPr>
          <p:nvPr>
            <p:ph type="subTitle" idx="1"/>
          </p:nvPr>
        </p:nvSpPr>
        <p:spPr>
          <a:xfrm>
            <a:off x="358987" y="4128950"/>
            <a:ext cx="1463040" cy="4199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/>
                </a:solidFill>
              </a:rPr>
              <a:t>Summer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131751-3DF5-B92D-B6F9-8AF7192230A5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17547" y="4219787"/>
            <a:ext cx="1715139" cy="875552"/>
          </a:xfrm>
          <a:prstGeom prst="rect">
            <a:avLst/>
          </a:prstGeom>
        </p:spPr>
      </p:pic>
      <p:sp>
        <p:nvSpPr>
          <p:cNvPr id="4" name="Google Shape;291;p41">
            <a:extLst>
              <a:ext uri="{FF2B5EF4-FFF2-40B4-BE49-F238E27FC236}">
                <a16:creationId xmlns:a16="http://schemas.microsoft.com/office/drawing/2014/main" id="{30A73973-12E4-916D-E2DA-557B7CA02B67}"/>
              </a:ext>
            </a:extLst>
          </p:cNvPr>
          <p:cNvSpPr txBox="1">
            <a:spLocks/>
          </p:cNvSpPr>
          <p:nvPr/>
        </p:nvSpPr>
        <p:spPr>
          <a:xfrm>
            <a:off x="2401145" y="2436283"/>
            <a:ext cx="3501813" cy="96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Golos Text"/>
              <a:buNone/>
              <a:defRPr sz="36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Golos Text"/>
              <a:buNone/>
              <a:defRPr sz="47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Golos Text"/>
              <a:buNone/>
              <a:defRPr sz="47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Golos Text"/>
              <a:buNone/>
              <a:defRPr sz="47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Golos Text"/>
              <a:buNone/>
              <a:defRPr sz="47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Golos Text"/>
              <a:buNone/>
              <a:defRPr sz="47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Golos Text"/>
              <a:buNone/>
              <a:defRPr sz="47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Golos Text"/>
              <a:buNone/>
              <a:defRPr sz="47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Golos Text"/>
              <a:buNone/>
              <a:defRPr sz="47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r>
              <a:rPr lang="en-US" sz="1800" dirty="0">
                <a:solidFill>
                  <a:schemeClr val="accent2"/>
                </a:solidFill>
              </a:rPr>
              <a:t>Student : Mohammad Kazemi</a:t>
            </a:r>
          </a:p>
          <a:p>
            <a:r>
              <a:rPr lang="en-US" sz="1800" dirty="0">
                <a:solidFill>
                  <a:schemeClr val="accent2"/>
                </a:solidFill>
              </a:rPr>
              <a:t>Supervisor : Dr. </a:t>
            </a:r>
            <a:r>
              <a:rPr lang="en-US" sz="1800" dirty="0" err="1">
                <a:solidFill>
                  <a:schemeClr val="accent2"/>
                </a:solidFill>
              </a:rPr>
              <a:t>GhiassiRad</a:t>
            </a:r>
            <a:endParaRPr lang="en-US" sz="1400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B8944F-ADED-2993-732C-41F650A00EF9}"/>
              </a:ext>
            </a:extLst>
          </p:cNvPr>
          <p:cNvSpPr txBox="1"/>
          <p:nvPr/>
        </p:nvSpPr>
        <p:spPr>
          <a:xfrm rot="16200000">
            <a:off x="8137872" y="4138304"/>
            <a:ext cx="16020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arXiv:2505.06683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3"/>
          <p:cNvSpPr/>
          <p:nvPr/>
        </p:nvSpPr>
        <p:spPr>
          <a:xfrm>
            <a:off x="4767773" y="1451000"/>
            <a:ext cx="852900" cy="369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7" name="Google Shape;307;p43"/>
          <p:cNvGrpSpPr/>
          <p:nvPr/>
        </p:nvGrpSpPr>
        <p:grpSpPr>
          <a:xfrm>
            <a:off x="-345438" y="1451000"/>
            <a:ext cx="4108200" cy="3692400"/>
            <a:chOff x="0" y="1451000"/>
            <a:chExt cx="4108200" cy="3692400"/>
          </a:xfrm>
        </p:grpSpPr>
        <p:sp>
          <p:nvSpPr>
            <p:cNvPr id="308" name="Google Shape;308;p43"/>
            <p:cNvSpPr/>
            <p:nvPr/>
          </p:nvSpPr>
          <p:spPr>
            <a:xfrm>
              <a:off x="1005300" y="1451000"/>
              <a:ext cx="852900" cy="3692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09" name="Google Shape;309;p43"/>
            <p:cNvCxnSpPr/>
            <p:nvPr/>
          </p:nvCxnSpPr>
          <p:spPr>
            <a:xfrm>
              <a:off x="0" y="4797575"/>
              <a:ext cx="4108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10" name="Google Shape;310;p43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Table of contents</a:t>
            </a:r>
            <a:endParaRPr sz="3100"/>
          </a:p>
        </p:txBody>
      </p:sp>
      <p:sp>
        <p:nvSpPr>
          <p:cNvPr id="312" name="Google Shape;312;p43"/>
          <p:cNvSpPr txBox="1">
            <a:spLocks noGrp="1"/>
          </p:cNvSpPr>
          <p:nvPr>
            <p:ph type="subTitle" idx="2"/>
          </p:nvPr>
        </p:nvSpPr>
        <p:spPr>
          <a:xfrm>
            <a:off x="1536162" y="1655205"/>
            <a:ext cx="2812007" cy="8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Introduction &amp; Problem Statement</a:t>
            </a:r>
            <a:endParaRPr dirty="0"/>
          </a:p>
        </p:txBody>
      </p:sp>
      <p:sp>
        <p:nvSpPr>
          <p:cNvPr id="313" name="Google Shape;313;p43"/>
          <p:cNvSpPr txBox="1">
            <a:spLocks noGrp="1"/>
          </p:cNvSpPr>
          <p:nvPr>
            <p:ph type="title" idx="3"/>
          </p:nvPr>
        </p:nvSpPr>
        <p:spPr>
          <a:xfrm>
            <a:off x="648162" y="1483400"/>
            <a:ext cx="876300" cy="115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15" name="Google Shape;315;p43"/>
          <p:cNvSpPr txBox="1">
            <a:spLocks noGrp="1"/>
          </p:cNvSpPr>
          <p:nvPr>
            <p:ph type="subTitle" idx="5"/>
          </p:nvPr>
        </p:nvSpPr>
        <p:spPr>
          <a:xfrm>
            <a:off x="1536162" y="3435937"/>
            <a:ext cx="3079207" cy="6404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Experimental Results</a:t>
            </a:r>
            <a:endParaRPr dirty="0"/>
          </a:p>
        </p:txBody>
      </p:sp>
      <p:sp>
        <p:nvSpPr>
          <p:cNvPr id="316" name="Google Shape;316;p43"/>
          <p:cNvSpPr txBox="1">
            <a:spLocks noGrp="1"/>
          </p:cNvSpPr>
          <p:nvPr>
            <p:ph type="title" idx="6"/>
          </p:nvPr>
        </p:nvSpPr>
        <p:spPr>
          <a:xfrm>
            <a:off x="648162" y="3179712"/>
            <a:ext cx="876300" cy="115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18" name="Google Shape;318;p43"/>
          <p:cNvSpPr txBox="1">
            <a:spLocks noGrp="1"/>
          </p:cNvSpPr>
          <p:nvPr>
            <p:ph type="subTitle" idx="8"/>
          </p:nvPr>
        </p:nvSpPr>
        <p:spPr>
          <a:xfrm>
            <a:off x="5654704" y="1657717"/>
            <a:ext cx="3316669" cy="8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Proposed Methodology (</a:t>
            </a:r>
            <a:r>
              <a:rPr lang="en-US" dirty="0" err="1"/>
              <a:t>UnfoldIR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319" name="Google Shape;319;p43"/>
          <p:cNvSpPr txBox="1">
            <a:spLocks noGrp="1"/>
          </p:cNvSpPr>
          <p:nvPr>
            <p:ph type="title" idx="9"/>
          </p:nvPr>
        </p:nvSpPr>
        <p:spPr>
          <a:xfrm>
            <a:off x="4756073" y="1483400"/>
            <a:ext cx="876300" cy="115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21" name="Google Shape;321;p43"/>
          <p:cNvSpPr txBox="1">
            <a:spLocks noGrp="1"/>
          </p:cNvSpPr>
          <p:nvPr>
            <p:ph type="subTitle" idx="14"/>
          </p:nvPr>
        </p:nvSpPr>
        <p:spPr>
          <a:xfrm>
            <a:off x="5647931" y="3354610"/>
            <a:ext cx="2738862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Conclusion &amp; Future Work</a:t>
            </a:r>
            <a:endParaRPr dirty="0"/>
          </a:p>
        </p:txBody>
      </p:sp>
      <p:sp>
        <p:nvSpPr>
          <p:cNvPr id="322" name="Google Shape;322;p43"/>
          <p:cNvSpPr txBox="1">
            <a:spLocks noGrp="1"/>
          </p:cNvSpPr>
          <p:nvPr>
            <p:ph type="title" idx="15"/>
          </p:nvPr>
        </p:nvSpPr>
        <p:spPr>
          <a:xfrm>
            <a:off x="4756073" y="3179712"/>
            <a:ext cx="876300" cy="115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334;p45"/>
          <p:cNvGrpSpPr/>
          <p:nvPr/>
        </p:nvGrpSpPr>
        <p:grpSpPr>
          <a:xfrm>
            <a:off x="0" y="0"/>
            <a:ext cx="2473800" cy="4131000"/>
            <a:chOff x="0" y="0"/>
            <a:chExt cx="2473800" cy="4131000"/>
          </a:xfrm>
        </p:grpSpPr>
        <p:sp>
          <p:nvSpPr>
            <p:cNvPr id="335" name="Google Shape;335;p45"/>
            <p:cNvSpPr/>
            <p:nvPr/>
          </p:nvSpPr>
          <p:spPr>
            <a:xfrm>
              <a:off x="0" y="1012500"/>
              <a:ext cx="24738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6" name="Google Shape;336;p45"/>
            <p:cNvCxnSpPr/>
            <p:nvPr/>
          </p:nvCxnSpPr>
          <p:spPr>
            <a:xfrm rot="10800000">
              <a:off x="71125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37" name="Google Shape;337;p45"/>
          <p:cNvSpPr txBox="1">
            <a:spLocks noGrp="1"/>
          </p:cNvSpPr>
          <p:nvPr>
            <p:ph type="title"/>
          </p:nvPr>
        </p:nvSpPr>
        <p:spPr>
          <a:xfrm>
            <a:off x="981316" y="2188563"/>
            <a:ext cx="7181367" cy="7663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Introduction &amp; Problem Statement</a:t>
            </a:r>
            <a:endParaRPr sz="3200" dirty="0"/>
          </a:p>
        </p:txBody>
      </p:sp>
      <p:sp>
        <p:nvSpPr>
          <p:cNvPr id="4" name="Google Shape;338;p45">
            <a:extLst>
              <a:ext uri="{FF2B5EF4-FFF2-40B4-BE49-F238E27FC236}">
                <a16:creationId xmlns:a16="http://schemas.microsoft.com/office/drawing/2014/main" id="{5FF89B20-1CBB-1270-387C-A2996B4114DE}"/>
              </a:ext>
            </a:extLst>
          </p:cNvPr>
          <p:cNvSpPr txBox="1">
            <a:spLocks/>
          </p:cNvSpPr>
          <p:nvPr/>
        </p:nvSpPr>
        <p:spPr>
          <a:xfrm>
            <a:off x="1397475" y="1012550"/>
            <a:ext cx="1076325" cy="86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r>
              <a:rPr lang="fa-IR" sz="4400" dirty="0"/>
              <a:t>01</a:t>
            </a:r>
            <a:endParaRPr lang="fa-I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6"/>
          <p:cNvSpPr txBox="1">
            <a:spLocks noGrp="1"/>
          </p:cNvSpPr>
          <p:nvPr>
            <p:ph type="subTitle" idx="1"/>
          </p:nvPr>
        </p:nvSpPr>
        <p:spPr>
          <a:xfrm>
            <a:off x="847778" y="714109"/>
            <a:ext cx="8177276" cy="36199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b="1" dirty="0"/>
              <a:t>Illumination Degradation Image Restoration (IDIR):</a:t>
            </a:r>
            <a:endParaRPr lang="fa-IR" b="1" dirty="0"/>
          </a:p>
          <a:p>
            <a:pPr algn="l"/>
            <a:r>
              <a:rPr lang="en-US" dirty="0"/>
              <a:t>A set of challenging tasks aimed at mitigating adverse lighting effects such as low contrast and non-uniform noise.</a:t>
            </a:r>
            <a:endParaRPr lang="fa-IR" dirty="0"/>
          </a:p>
          <a:p>
            <a:pPr algn="l"/>
            <a:endParaRPr lang="en-US" dirty="0"/>
          </a:p>
          <a:p>
            <a:pPr algn="l"/>
            <a:r>
              <a:rPr lang="en-US" b="1" dirty="0"/>
              <a:t>Included Tasks:</a:t>
            </a:r>
            <a:endParaRPr lang="fa-IR" dirty="0"/>
          </a:p>
          <a:p>
            <a:pPr algn="l"/>
            <a:r>
              <a:rPr lang="en-US" dirty="0"/>
              <a:t>Low-light image enhancement (LLIE), underwater image enhancement (UIE), backlit image enhancement (BIE), and medical fundus image enhancement.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Importance:</a:t>
            </a:r>
          </a:p>
          <a:p>
            <a:pPr algn="l"/>
            <a:r>
              <a:rPr lang="en-US" dirty="0"/>
              <a:t>Improves visual quality and facilitates downstream computer vision tasks (e.g., nighttime object detection).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>
          <a:extLst>
            <a:ext uri="{FF2B5EF4-FFF2-40B4-BE49-F238E27FC236}">
              <a16:creationId xmlns:a16="http://schemas.microsoft.com/office/drawing/2014/main" id="{861840D3-5050-18CC-8B11-4179CE7FB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9" name="Google Shape;559;p58">
            <a:extLst>
              <a:ext uri="{FF2B5EF4-FFF2-40B4-BE49-F238E27FC236}">
                <a16:creationId xmlns:a16="http://schemas.microsoft.com/office/drawing/2014/main" id="{E2D4B3B8-1C43-2B68-B39D-DA7A77690ED6}"/>
              </a:ext>
            </a:extLst>
          </p:cNvPr>
          <p:cNvGrpSpPr/>
          <p:nvPr/>
        </p:nvGrpSpPr>
        <p:grpSpPr>
          <a:xfrm>
            <a:off x="283800" y="-4100"/>
            <a:ext cx="8860200" cy="5147725"/>
            <a:chOff x="283800" y="-4100"/>
            <a:chExt cx="8860200" cy="5147725"/>
          </a:xfrm>
        </p:grpSpPr>
        <p:sp>
          <p:nvSpPr>
            <p:cNvPr id="560" name="Google Shape;560;p58">
              <a:extLst>
                <a:ext uri="{FF2B5EF4-FFF2-40B4-BE49-F238E27FC236}">
                  <a16:creationId xmlns:a16="http://schemas.microsoft.com/office/drawing/2014/main" id="{18DB53B4-AA5A-77B8-EC4C-A5435E510F9D}"/>
                </a:ext>
              </a:extLst>
            </p:cNvPr>
            <p:cNvSpPr/>
            <p:nvPr/>
          </p:nvSpPr>
          <p:spPr>
            <a:xfrm flipH="1">
              <a:off x="713400" y="-4100"/>
              <a:ext cx="8430600" cy="267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61" name="Google Shape;561;p58">
              <a:extLst>
                <a:ext uri="{FF2B5EF4-FFF2-40B4-BE49-F238E27FC236}">
                  <a16:creationId xmlns:a16="http://schemas.microsoft.com/office/drawing/2014/main" id="{7351AA16-ABBB-5137-4C14-660FFBC9C895}"/>
                </a:ext>
              </a:extLst>
            </p:cNvPr>
            <p:cNvCxnSpPr/>
            <p:nvPr/>
          </p:nvCxnSpPr>
          <p:spPr>
            <a:xfrm rot="10800000">
              <a:off x="283800" y="2567825"/>
              <a:ext cx="0" cy="2575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BCB46CC-15AE-6D54-2FFF-0F123FD902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1239"/>
          <a:stretch>
            <a:fillRect/>
          </a:stretch>
        </p:blipFill>
        <p:spPr>
          <a:xfrm>
            <a:off x="1468098" y="339818"/>
            <a:ext cx="3017513" cy="22800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BB3C85-29CD-AD3A-1FF2-91CB72B4A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698" y="339818"/>
            <a:ext cx="3017520" cy="2286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F1E92C-1D83-0D86-0B12-BB3ABB865F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8098" y="2708910"/>
            <a:ext cx="3017511" cy="22800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2EF3898-68A9-1B82-6437-EF8E086E3E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0693" y="2708909"/>
            <a:ext cx="3017509" cy="228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882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23BA1A7E-46F8-14A8-8956-0DFBCB368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334;p45">
            <a:extLst>
              <a:ext uri="{FF2B5EF4-FFF2-40B4-BE49-F238E27FC236}">
                <a16:creationId xmlns:a16="http://schemas.microsoft.com/office/drawing/2014/main" id="{86A674AB-3C27-449E-24C7-BBC900C92CB7}"/>
              </a:ext>
            </a:extLst>
          </p:cNvPr>
          <p:cNvGrpSpPr/>
          <p:nvPr/>
        </p:nvGrpSpPr>
        <p:grpSpPr>
          <a:xfrm>
            <a:off x="0" y="0"/>
            <a:ext cx="2473800" cy="4131000"/>
            <a:chOff x="0" y="0"/>
            <a:chExt cx="2473800" cy="4131000"/>
          </a:xfrm>
        </p:grpSpPr>
        <p:sp>
          <p:nvSpPr>
            <p:cNvPr id="335" name="Google Shape;335;p45">
              <a:extLst>
                <a:ext uri="{FF2B5EF4-FFF2-40B4-BE49-F238E27FC236}">
                  <a16:creationId xmlns:a16="http://schemas.microsoft.com/office/drawing/2014/main" id="{1A87F498-0190-DA50-22B6-DABC0549D5E2}"/>
                </a:ext>
              </a:extLst>
            </p:cNvPr>
            <p:cNvSpPr/>
            <p:nvPr/>
          </p:nvSpPr>
          <p:spPr>
            <a:xfrm>
              <a:off x="0" y="1012500"/>
              <a:ext cx="24738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6" name="Google Shape;336;p45">
              <a:extLst>
                <a:ext uri="{FF2B5EF4-FFF2-40B4-BE49-F238E27FC236}">
                  <a16:creationId xmlns:a16="http://schemas.microsoft.com/office/drawing/2014/main" id="{1BC8FAC5-8670-01B9-5C47-D4EC5A9CF710}"/>
                </a:ext>
              </a:extLst>
            </p:cNvPr>
            <p:cNvCxnSpPr/>
            <p:nvPr/>
          </p:nvCxnSpPr>
          <p:spPr>
            <a:xfrm rot="10800000">
              <a:off x="71125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37" name="Google Shape;337;p45">
            <a:extLst>
              <a:ext uri="{FF2B5EF4-FFF2-40B4-BE49-F238E27FC236}">
                <a16:creationId xmlns:a16="http://schemas.microsoft.com/office/drawing/2014/main" id="{0D473E04-3A03-5A39-25DB-A78A31DE91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251" y="2240850"/>
            <a:ext cx="77175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Existing Approaches &amp; Challenges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520315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64FD8A2A-9A76-94E2-1EE9-0356CAED4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6">
            <a:extLst>
              <a:ext uri="{FF2B5EF4-FFF2-40B4-BE49-F238E27FC236}">
                <a16:creationId xmlns:a16="http://schemas.microsoft.com/office/drawing/2014/main" id="{6F57EE41-948A-E7B5-9483-7EE84DA7E68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0075" y="533400"/>
            <a:ext cx="8424979" cy="39147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b="1" dirty="0"/>
              <a:t>Model-based (Traditional) Methods:</a:t>
            </a:r>
          </a:p>
          <a:p>
            <a:pPr algn="l"/>
            <a:r>
              <a:rPr lang="en-US" dirty="0"/>
              <a:t>Rely on manually designed rules with clear interpretability, but suffer from limited generalization capability.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Learning-based (Deep Learning) Methods:</a:t>
            </a:r>
          </a:p>
          <a:p>
            <a:pPr algn="l"/>
            <a:r>
              <a:rPr lang="en-US" dirty="0"/>
              <a:t>High generalization due to end-to-end training, but act as a "black box" lacking interpretability.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Deep Unfolding Networks (DUNs):</a:t>
            </a:r>
          </a:p>
          <a:p>
            <a:pPr algn="l"/>
            <a:r>
              <a:rPr lang="en-US" dirty="0"/>
              <a:t>Aim to combine the merits of both by unfolding iterative optimization algorithms into multi-stage neural networks. 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Current Challenge:</a:t>
            </a:r>
          </a:p>
          <a:p>
            <a:pPr algn="l"/>
            <a:r>
              <a:rPr lang="en-US" dirty="0"/>
              <a:t>Existing DUN-based methods still significantly underperform compared to SOTA solvers. </a:t>
            </a:r>
          </a:p>
        </p:txBody>
      </p:sp>
    </p:spTree>
    <p:extLst>
      <p:ext uri="{BB962C8B-B14F-4D97-AF65-F5344CB8AC3E}">
        <p14:creationId xmlns:p14="http://schemas.microsoft.com/office/powerpoint/2010/main" val="1977702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098A227D-9663-2B8E-1C99-921230D7C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334;p45">
            <a:extLst>
              <a:ext uri="{FF2B5EF4-FFF2-40B4-BE49-F238E27FC236}">
                <a16:creationId xmlns:a16="http://schemas.microsoft.com/office/drawing/2014/main" id="{D4BAA3DF-E318-7425-510E-E120D2945831}"/>
              </a:ext>
            </a:extLst>
          </p:cNvPr>
          <p:cNvGrpSpPr/>
          <p:nvPr/>
        </p:nvGrpSpPr>
        <p:grpSpPr>
          <a:xfrm>
            <a:off x="0" y="0"/>
            <a:ext cx="2473800" cy="4131000"/>
            <a:chOff x="0" y="0"/>
            <a:chExt cx="2473800" cy="4131000"/>
          </a:xfrm>
        </p:grpSpPr>
        <p:sp>
          <p:nvSpPr>
            <p:cNvPr id="335" name="Google Shape;335;p45">
              <a:extLst>
                <a:ext uri="{FF2B5EF4-FFF2-40B4-BE49-F238E27FC236}">
                  <a16:creationId xmlns:a16="http://schemas.microsoft.com/office/drawing/2014/main" id="{E1FFC805-F572-FE32-B740-AEA11550CA9F}"/>
                </a:ext>
              </a:extLst>
            </p:cNvPr>
            <p:cNvSpPr/>
            <p:nvPr/>
          </p:nvSpPr>
          <p:spPr>
            <a:xfrm>
              <a:off x="0" y="1012500"/>
              <a:ext cx="24738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6" name="Google Shape;336;p45">
              <a:extLst>
                <a:ext uri="{FF2B5EF4-FFF2-40B4-BE49-F238E27FC236}">
                  <a16:creationId xmlns:a16="http://schemas.microsoft.com/office/drawing/2014/main" id="{2BBABBC1-FC49-13A4-28C4-10A8B7324B97}"/>
                </a:ext>
              </a:extLst>
            </p:cNvPr>
            <p:cNvCxnSpPr/>
            <p:nvPr/>
          </p:nvCxnSpPr>
          <p:spPr>
            <a:xfrm rot="10800000">
              <a:off x="71125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37" name="Google Shape;337;p45">
            <a:extLst>
              <a:ext uri="{FF2B5EF4-FFF2-40B4-BE49-F238E27FC236}">
                <a16:creationId xmlns:a16="http://schemas.microsoft.com/office/drawing/2014/main" id="{796E6611-74E6-1317-263C-D87B6B2435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0208" y="1992033"/>
            <a:ext cx="4983583" cy="12689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Motivation &amp; Main Idea</a:t>
            </a:r>
            <a:br>
              <a:rPr lang="fa-IR" sz="3200" dirty="0"/>
            </a:br>
            <a:r>
              <a:rPr lang="en-US" sz="3200" dirty="0"/>
              <a:t>(</a:t>
            </a:r>
            <a:r>
              <a:rPr lang="en-US" sz="3200" dirty="0" err="1"/>
              <a:t>UnfoldIR</a:t>
            </a:r>
            <a:r>
              <a:rPr lang="en-US" sz="3200" dirty="0"/>
              <a:t>)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3737614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249E27BB-F4BA-B1E3-2CE9-36719B45B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6">
            <a:extLst>
              <a:ext uri="{FF2B5EF4-FFF2-40B4-BE49-F238E27FC236}">
                <a16:creationId xmlns:a16="http://schemas.microsoft.com/office/drawing/2014/main" id="{32FEA0A8-0F78-341B-87E4-1C0BAD96196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71525" y="809625"/>
            <a:ext cx="8253529" cy="3638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b="1" dirty="0"/>
              <a:t>Why have DUNs fallen short?</a:t>
            </a: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Lack of task-specific regularization terms during the mathematical modeling phase.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Failure to integrate advanced network architectures within the unfolding stages.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Absence of loss functions tailored specifically to multi-stage DUN structures. 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The Proposed Solution (</a:t>
            </a:r>
            <a:r>
              <a:rPr lang="en-US" b="1" dirty="0" err="1"/>
              <a:t>UnfoldIR</a:t>
            </a:r>
            <a:r>
              <a:rPr lang="en-US" b="1" dirty="0"/>
              <a:t>):</a:t>
            </a:r>
            <a:r>
              <a:rPr lang="en-US" dirty="0"/>
              <a:t> </a:t>
            </a:r>
          </a:p>
          <a:p>
            <a:pPr algn="l"/>
            <a:r>
              <a:rPr lang="en-US" dirty="0"/>
              <a:t>Designing a novel DUN framework based on </a:t>
            </a:r>
            <a:r>
              <a:rPr lang="en-US" dirty="0" err="1"/>
              <a:t>Retinex</a:t>
            </a:r>
            <a:r>
              <a:rPr lang="en-US" dirty="0"/>
              <a:t> theory, utilizing advanced Visual State Space (VSS) modules and high-order differential equation solvers.</a:t>
            </a:r>
          </a:p>
        </p:txBody>
      </p:sp>
    </p:spTree>
    <p:extLst>
      <p:ext uri="{BB962C8B-B14F-4D97-AF65-F5344CB8AC3E}">
        <p14:creationId xmlns:p14="http://schemas.microsoft.com/office/powerpoint/2010/main" val="4132308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934BA04F-D8CF-53F5-0E1E-5F68F9F4D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334;p45">
            <a:extLst>
              <a:ext uri="{FF2B5EF4-FFF2-40B4-BE49-F238E27FC236}">
                <a16:creationId xmlns:a16="http://schemas.microsoft.com/office/drawing/2014/main" id="{75FE0EA2-FD1A-2F37-F6CD-18817D7A2185}"/>
              </a:ext>
            </a:extLst>
          </p:cNvPr>
          <p:cNvGrpSpPr/>
          <p:nvPr/>
        </p:nvGrpSpPr>
        <p:grpSpPr>
          <a:xfrm>
            <a:off x="0" y="0"/>
            <a:ext cx="2473800" cy="4131000"/>
            <a:chOff x="0" y="0"/>
            <a:chExt cx="2473800" cy="4131000"/>
          </a:xfrm>
        </p:grpSpPr>
        <p:sp>
          <p:nvSpPr>
            <p:cNvPr id="335" name="Google Shape;335;p45">
              <a:extLst>
                <a:ext uri="{FF2B5EF4-FFF2-40B4-BE49-F238E27FC236}">
                  <a16:creationId xmlns:a16="http://schemas.microsoft.com/office/drawing/2014/main" id="{8B4B767E-4357-59E9-E264-4CB9603F97C2}"/>
                </a:ext>
              </a:extLst>
            </p:cNvPr>
            <p:cNvSpPr/>
            <p:nvPr/>
          </p:nvSpPr>
          <p:spPr>
            <a:xfrm>
              <a:off x="0" y="1012500"/>
              <a:ext cx="24738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6" name="Google Shape;336;p45">
              <a:extLst>
                <a:ext uri="{FF2B5EF4-FFF2-40B4-BE49-F238E27FC236}">
                  <a16:creationId xmlns:a16="http://schemas.microsoft.com/office/drawing/2014/main" id="{A98A4268-14D5-A16A-1E23-E8340FCEB909}"/>
                </a:ext>
              </a:extLst>
            </p:cNvPr>
            <p:cNvCxnSpPr/>
            <p:nvPr/>
          </p:nvCxnSpPr>
          <p:spPr>
            <a:xfrm rot="10800000">
              <a:off x="71125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37" name="Google Shape;337;p45">
            <a:extLst>
              <a:ext uri="{FF2B5EF4-FFF2-40B4-BE49-F238E27FC236}">
                <a16:creationId xmlns:a16="http://schemas.microsoft.com/office/drawing/2014/main" id="{B1FCD0BD-2BA2-027C-A31F-DE3C1F437A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251" y="1998095"/>
            <a:ext cx="7717500" cy="11473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200" dirty="0"/>
              <a:t>Mathematical Modeling</a:t>
            </a:r>
            <a:br>
              <a:rPr lang="en-US" sz="3200" dirty="0"/>
            </a:br>
            <a:r>
              <a:rPr lang="en-US" sz="3200" dirty="0"/>
              <a:t>(</a:t>
            </a:r>
            <a:r>
              <a:rPr lang="en-US" sz="3200" dirty="0" err="1"/>
              <a:t>Retinex</a:t>
            </a:r>
            <a:r>
              <a:rPr lang="en-US" sz="3200" dirty="0"/>
              <a:t> Theory)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219337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21309210-3A19-CA01-2FC2-A4FD10065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45" name="Google Shape;345;p46">
                <a:extLst>
                  <a:ext uri="{FF2B5EF4-FFF2-40B4-BE49-F238E27FC236}">
                    <a16:creationId xmlns:a16="http://schemas.microsoft.com/office/drawing/2014/main" id="{9FE8F0C5-3BC7-DB1A-D2AD-14BED92B5FC2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771525" y="733425"/>
                <a:ext cx="8253529" cy="363855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l"/>
                <a:r>
                  <a:rPr lang="en-US" dirty="0"/>
                  <a:t>Decomposition of the input image (I) into reflectance (R) and illumination (L) components: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⊙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pPr algn="l"/>
                <a:endParaRPr lang="en-US" dirty="0"/>
              </a:p>
              <a:p>
                <a:pPr algn="l"/>
                <a:r>
                  <a:rPr lang="en-US" b="1" dirty="0"/>
                  <a:t>Proposed Objective Function:</a:t>
                </a:r>
              </a:p>
              <a:p>
                <a:pPr algn="l"/>
                <a:r>
                  <a:rPr lang="en-US" dirty="0"/>
                  <a:t>Adds data fidelity and explicit constraint terms tailored to degradation characteristics.</a:t>
                </a:r>
              </a:p>
              <a:p>
                <a:pPr algn="l"/>
                <a:endParaRPr lang="en-US" dirty="0"/>
              </a:p>
              <a:p>
                <a:pPr algn="l"/>
                <a:r>
                  <a:rPr lang="en-US" b="1" dirty="0"/>
                  <a:t>For Reflectance (R):</a:t>
                </a:r>
              </a:p>
              <a:p>
                <a:pPr algn="l"/>
                <a:r>
                  <a:rPr lang="en-US" dirty="0"/>
                  <a:t>Uses a Perona-Malik inspired diffusion mechanism to preserve texture at edges while suppressing noise in smooth regions.</a:t>
                </a:r>
              </a:p>
              <a:p>
                <a:pPr algn="l"/>
                <a:endParaRPr lang="en-US" dirty="0"/>
              </a:p>
              <a:p>
                <a:pPr algn="l"/>
                <a:r>
                  <a:rPr lang="en-US" b="1" dirty="0"/>
                  <a:t>For Illumination (L):</a:t>
                </a:r>
              </a:p>
              <a:p>
                <a:pPr algn="l"/>
                <a:r>
                  <a:rPr lang="en-US" dirty="0"/>
                  <a:t>Applies a local smoothing constraint with a gradient-aware weighting matrix to prevent color distortion and preserve main structures. </a:t>
                </a:r>
              </a:p>
            </p:txBody>
          </p:sp>
        </mc:Choice>
        <mc:Fallback xmlns="">
          <p:sp>
            <p:nvSpPr>
              <p:cNvPr id="345" name="Google Shape;345;p46">
                <a:extLst>
                  <a:ext uri="{FF2B5EF4-FFF2-40B4-BE49-F238E27FC236}">
                    <a16:creationId xmlns:a16="http://schemas.microsoft.com/office/drawing/2014/main" id="{9FE8F0C5-3BC7-DB1A-D2AD-14BED92B5FC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71525" y="733425"/>
                <a:ext cx="8253529" cy="3638550"/>
              </a:xfrm>
              <a:prstGeom prst="rect">
                <a:avLst/>
              </a:prstGeom>
              <a:blipFill>
                <a:blip r:embed="rId3"/>
                <a:stretch>
                  <a:fillRect b="-21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2566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3BAD857D-25A1-CE1D-147C-5DC6851C1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334;p45">
            <a:extLst>
              <a:ext uri="{FF2B5EF4-FFF2-40B4-BE49-F238E27FC236}">
                <a16:creationId xmlns:a16="http://schemas.microsoft.com/office/drawing/2014/main" id="{B3BB0A55-C4AF-5FBE-1DAA-A2352148048D}"/>
              </a:ext>
            </a:extLst>
          </p:cNvPr>
          <p:cNvGrpSpPr/>
          <p:nvPr/>
        </p:nvGrpSpPr>
        <p:grpSpPr>
          <a:xfrm>
            <a:off x="0" y="0"/>
            <a:ext cx="2473800" cy="4131000"/>
            <a:chOff x="0" y="0"/>
            <a:chExt cx="2473800" cy="4131000"/>
          </a:xfrm>
        </p:grpSpPr>
        <p:sp>
          <p:nvSpPr>
            <p:cNvPr id="335" name="Google Shape;335;p45">
              <a:extLst>
                <a:ext uri="{FF2B5EF4-FFF2-40B4-BE49-F238E27FC236}">
                  <a16:creationId xmlns:a16="http://schemas.microsoft.com/office/drawing/2014/main" id="{6D0CE3FB-963A-FDAB-440E-34FB1B09FF98}"/>
                </a:ext>
              </a:extLst>
            </p:cNvPr>
            <p:cNvSpPr/>
            <p:nvPr/>
          </p:nvSpPr>
          <p:spPr>
            <a:xfrm>
              <a:off x="0" y="1012500"/>
              <a:ext cx="24738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6" name="Google Shape;336;p45">
              <a:extLst>
                <a:ext uri="{FF2B5EF4-FFF2-40B4-BE49-F238E27FC236}">
                  <a16:creationId xmlns:a16="http://schemas.microsoft.com/office/drawing/2014/main" id="{DF8F4A33-B62E-1299-E4CE-3C210669E910}"/>
                </a:ext>
              </a:extLst>
            </p:cNvPr>
            <p:cNvCxnSpPr/>
            <p:nvPr/>
          </p:nvCxnSpPr>
          <p:spPr>
            <a:xfrm rot="10800000">
              <a:off x="71125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37" name="Google Shape;337;p45">
            <a:extLst>
              <a:ext uri="{FF2B5EF4-FFF2-40B4-BE49-F238E27FC236}">
                <a16:creationId xmlns:a16="http://schemas.microsoft.com/office/drawing/2014/main" id="{B507F5DD-5961-8512-EDBD-80E618475D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251" y="2240849"/>
            <a:ext cx="7717500" cy="11858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Optimization via Proximal Gradient Algorithm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1925837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AD7949B2-77CA-C039-C2F7-A4A1DB72C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6">
            <a:extLst>
              <a:ext uri="{FF2B5EF4-FFF2-40B4-BE49-F238E27FC236}">
                <a16:creationId xmlns:a16="http://schemas.microsoft.com/office/drawing/2014/main" id="{6EBF30CA-981A-24AF-D31C-0AE1531C61F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71525" y="733425"/>
            <a:ext cx="8253529" cy="3638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dirty="0"/>
              <a:t>Solves the objective function by alternating updates for L and R over several iterations. 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Splits the update process into two sub-problems: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Gradient Descent Term:</a:t>
            </a:r>
            <a:endParaRPr lang="en-US" dirty="0"/>
          </a:p>
          <a:p>
            <a:pPr algn="l"/>
            <a:r>
              <a:rPr lang="en-US" dirty="0"/>
              <a:t>	To generate an initial intermediate auxiliary variable. 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Proximal Term:</a:t>
            </a:r>
          </a:p>
          <a:p>
            <a:pPr algn="l"/>
            <a:r>
              <a:rPr lang="en-US" b="1" dirty="0"/>
              <a:t>	</a:t>
            </a:r>
            <a:r>
              <a:rPr lang="en-US" dirty="0"/>
              <a:t>Replaced by deep neural networks to avoid complex closed-form calculations (This is the core concept of Deep Unfolding). </a:t>
            </a:r>
          </a:p>
        </p:txBody>
      </p:sp>
    </p:spTree>
    <p:extLst>
      <p:ext uri="{BB962C8B-B14F-4D97-AF65-F5344CB8AC3E}">
        <p14:creationId xmlns:p14="http://schemas.microsoft.com/office/powerpoint/2010/main" val="3622473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52B63CBC-0210-EF8B-F991-27BD3634C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334;p45">
            <a:extLst>
              <a:ext uri="{FF2B5EF4-FFF2-40B4-BE49-F238E27FC236}">
                <a16:creationId xmlns:a16="http://schemas.microsoft.com/office/drawing/2014/main" id="{CDA7B81E-8326-A630-8C42-45DF5C99A913}"/>
              </a:ext>
            </a:extLst>
          </p:cNvPr>
          <p:cNvGrpSpPr/>
          <p:nvPr/>
        </p:nvGrpSpPr>
        <p:grpSpPr>
          <a:xfrm>
            <a:off x="0" y="0"/>
            <a:ext cx="2473800" cy="4131000"/>
            <a:chOff x="0" y="0"/>
            <a:chExt cx="2473800" cy="4131000"/>
          </a:xfrm>
        </p:grpSpPr>
        <p:sp>
          <p:nvSpPr>
            <p:cNvPr id="335" name="Google Shape;335;p45">
              <a:extLst>
                <a:ext uri="{FF2B5EF4-FFF2-40B4-BE49-F238E27FC236}">
                  <a16:creationId xmlns:a16="http://schemas.microsoft.com/office/drawing/2014/main" id="{8D15BB7B-4F60-0DF4-9095-F2C458C5F775}"/>
                </a:ext>
              </a:extLst>
            </p:cNvPr>
            <p:cNvSpPr/>
            <p:nvPr/>
          </p:nvSpPr>
          <p:spPr>
            <a:xfrm>
              <a:off x="0" y="1012500"/>
              <a:ext cx="24738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6" name="Google Shape;336;p45">
              <a:extLst>
                <a:ext uri="{FF2B5EF4-FFF2-40B4-BE49-F238E27FC236}">
                  <a16:creationId xmlns:a16="http://schemas.microsoft.com/office/drawing/2014/main" id="{70B56E4A-3E72-72CE-6232-B1CC44C2C1EF}"/>
                </a:ext>
              </a:extLst>
            </p:cNvPr>
            <p:cNvCxnSpPr/>
            <p:nvPr/>
          </p:nvCxnSpPr>
          <p:spPr>
            <a:xfrm rot="10800000">
              <a:off x="71125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37" name="Google Shape;337;p45">
            <a:extLst>
              <a:ext uri="{FF2B5EF4-FFF2-40B4-BE49-F238E27FC236}">
                <a16:creationId xmlns:a16="http://schemas.microsoft.com/office/drawing/2014/main" id="{5854AF3A-50BE-C252-27CC-C8F0AB4EDCA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11249" y="2241550"/>
            <a:ext cx="7716837" cy="6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Overall Architecture of </a:t>
            </a:r>
            <a:r>
              <a:rPr lang="en-US" sz="3200" dirty="0" err="1"/>
              <a:t>UnfoldIR</a:t>
            </a:r>
            <a:endParaRPr sz="3200" dirty="0"/>
          </a:p>
        </p:txBody>
      </p:sp>
      <p:sp>
        <p:nvSpPr>
          <p:cNvPr id="338" name="Google Shape;338;p45">
            <a:extLst>
              <a:ext uri="{FF2B5EF4-FFF2-40B4-BE49-F238E27FC236}">
                <a16:creationId xmlns:a16="http://schemas.microsoft.com/office/drawing/2014/main" id="{EA6BEFF9-9067-64CD-D3C0-5CA0CDFF3DE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397475" y="1036709"/>
            <a:ext cx="1076325" cy="8699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4400" dirty="0"/>
              <a:t>02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0587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25583DBF-0201-B52B-862C-1D9D1F48D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6">
            <a:extLst>
              <a:ext uri="{FF2B5EF4-FFF2-40B4-BE49-F238E27FC236}">
                <a16:creationId xmlns:a16="http://schemas.microsoft.com/office/drawing/2014/main" id="{BDDA429E-A179-EEA0-8239-BAD2AD3C738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71525" y="733425"/>
            <a:ext cx="8253529" cy="27146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dirty="0"/>
              <a:t>The network is unrolled into K stages (optimal value K=3).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Structure of each stage: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RAIC Module:</a:t>
            </a:r>
            <a:r>
              <a:rPr lang="en-US" dirty="0"/>
              <a:t> Reflectance-Assisted Illumination Correction.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IGRE Module:</a:t>
            </a:r>
            <a:r>
              <a:rPr lang="en-US" dirty="0"/>
              <a:t> Illumination-Guided Reflectance Enhancement.</a:t>
            </a:r>
          </a:p>
        </p:txBody>
      </p:sp>
    </p:spTree>
    <p:extLst>
      <p:ext uri="{BB962C8B-B14F-4D97-AF65-F5344CB8AC3E}">
        <p14:creationId xmlns:p14="http://schemas.microsoft.com/office/powerpoint/2010/main" val="2047833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>
          <a:extLst>
            <a:ext uri="{FF2B5EF4-FFF2-40B4-BE49-F238E27FC236}">
              <a16:creationId xmlns:a16="http://schemas.microsoft.com/office/drawing/2014/main" id="{8330A0C3-B511-7C49-3E69-0E0DAA81B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E652DD82-04F3-BEBB-7C42-A4DCABFC2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891" y="0"/>
            <a:ext cx="732621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137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11DE4641-2A54-1095-7411-AF4ADB160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334;p45">
            <a:extLst>
              <a:ext uri="{FF2B5EF4-FFF2-40B4-BE49-F238E27FC236}">
                <a16:creationId xmlns:a16="http://schemas.microsoft.com/office/drawing/2014/main" id="{57D5AAA7-1390-373E-E0F4-EDCFC6064F58}"/>
              </a:ext>
            </a:extLst>
          </p:cNvPr>
          <p:cNvGrpSpPr/>
          <p:nvPr/>
        </p:nvGrpSpPr>
        <p:grpSpPr>
          <a:xfrm>
            <a:off x="0" y="0"/>
            <a:ext cx="2473800" cy="4131000"/>
            <a:chOff x="0" y="0"/>
            <a:chExt cx="2473800" cy="4131000"/>
          </a:xfrm>
        </p:grpSpPr>
        <p:sp>
          <p:nvSpPr>
            <p:cNvPr id="335" name="Google Shape;335;p45">
              <a:extLst>
                <a:ext uri="{FF2B5EF4-FFF2-40B4-BE49-F238E27FC236}">
                  <a16:creationId xmlns:a16="http://schemas.microsoft.com/office/drawing/2014/main" id="{502EC646-CC34-C87D-F6E7-92DF96CFF2FB}"/>
                </a:ext>
              </a:extLst>
            </p:cNvPr>
            <p:cNvSpPr/>
            <p:nvPr/>
          </p:nvSpPr>
          <p:spPr>
            <a:xfrm>
              <a:off x="0" y="1012500"/>
              <a:ext cx="24738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6" name="Google Shape;336;p45">
              <a:extLst>
                <a:ext uri="{FF2B5EF4-FFF2-40B4-BE49-F238E27FC236}">
                  <a16:creationId xmlns:a16="http://schemas.microsoft.com/office/drawing/2014/main" id="{8AC0899E-84D5-D1C9-A1C7-D51DF35F7D51}"/>
                </a:ext>
              </a:extLst>
            </p:cNvPr>
            <p:cNvCxnSpPr/>
            <p:nvPr/>
          </p:nvCxnSpPr>
          <p:spPr>
            <a:xfrm rot="10800000">
              <a:off x="71125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37" name="Google Shape;337;p45">
            <a:extLst>
              <a:ext uri="{FF2B5EF4-FFF2-40B4-BE49-F238E27FC236}">
                <a16:creationId xmlns:a16="http://schemas.microsoft.com/office/drawing/2014/main" id="{CCD43BE0-6322-0054-1041-ECB76BA0BC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251" y="2240850"/>
            <a:ext cx="77175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RAIC Module (Illumination Correction)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14384871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B6C77AAC-1046-10FC-FECB-6EC98CDA0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45" name="Google Shape;345;p46">
                <a:extLst>
                  <a:ext uri="{FF2B5EF4-FFF2-40B4-BE49-F238E27FC236}">
                    <a16:creationId xmlns:a16="http://schemas.microsoft.com/office/drawing/2014/main" id="{96BC4A4A-902B-82F4-8FD0-0CAB90B6BC66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771525" y="733425"/>
                <a:ext cx="8253529" cy="2714625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l"/>
                <a:r>
                  <a:rPr lang="en-US" b="1" dirty="0"/>
                  <a:t>Goal:</a:t>
                </a:r>
              </a:p>
              <a:p>
                <a:pPr algn="l"/>
                <a:r>
                  <a:rPr lang="en-US" dirty="0"/>
                  <a:t>Estimate and refine the illumination map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).</a:t>
                </a:r>
              </a:p>
              <a:p>
                <a:pPr algn="l"/>
                <a:endParaRPr lang="en-US" dirty="0"/>
              </a:p>
              <a:p>
                <a:pPr algn="l"/>
                <a:r>
                  <a:rPr lang="en-US" b="1" dirty="0"/>
                  <a:t>Innovation:</a:t>
                </a:r>
              </a:p>
              <a:p>
                <a:pPr algn="l"/>
                <a:r>
                  <a:rPr lang="en-US" dirty="0"/>
                  <a:t>Employs a Visual State Space (VSS) module to extract non-local features.</a:t>
                </a:r>
              </a:p>
              <a:p>
                <a:pPr algn="l"/>
                <a:endParaRPr lang="en-US" dirty="0"/>
              </a:p>
              <a:p>
                <a:pPr algn="l"/>
                <a:r>
                  <a:rPr lang="en-US" b="1" dirty="0"/>
                  <a:t>Advantage:</a:t>
                </a:r>
              </a:p>
              <a:p>
                <a:pPr algn="l"/>
                <a:r>
                  <a:rPr lang="en-US" dirty="0"/>
                  <a:t>Allows the network to adjust global illumination and promotes uniform lighting distribution across the image (highly effective for backlit conditions)</a:t>
                </a:r>
              </a:p>
            </p:txBody>
          </p:sp>
        </mc:Choice>
        <mc:Fallback xmlns="">
          <p:sp>
            <p:nvSpPr>
              <p:cNvPr id="345" name="Google Shape;345;p46">
                <a:extLst>
                  <a:ext uri="{FF2B5EF4-FFF2-40B4-BE49-F238E27FC236}">
                    <a16:creationId xmlns:a16="http://schemas.microsoft.com/office/drawing/2014/main" id="{96BC4A4A-902B-82F4-8FD0-0CAB90B6BC6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71525" y="733425"/>
                <a:ext cx="8253529" cy="27146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76008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EC740A83-34EF-D133-EE56-25AFDC2D5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334;p45">
            <a:extLst>
              <a:ext uri="{FF2B5EF4-FFF2-40B4-BE49-F238E27FC236}">
                <a16:creationId xmlns:a16="http://schemas.microsoft.com/office/drawing/2014/main" id="{F6BF8B6B-7036-17AF-1C90-20A939DA5C25}"/>
              </a:ext>
            </a:extLst>
          </p:cNvPr>
          <p:cNvGrpSpPr/>
          <p:nvPr/>
        </p:nvGrpSpPr>
        <p:grpSpPr>
          <a:xfrm>
            <a:off x="0" y="0"/>
            <a:ext cx="2473800" cy="4131000"/>
            <a:chOff x="0" y="0"/>
            <a:chExt cx="2473800" cy="4131000"/>
          </a:xfrm>
        </p:grpSpPr>
        <p:sp>
          <p:nvSpPr>
            <p:cNvPr id="335" name="Google Shape;335;p45">
              <a:extLst>
                <a:ext uri="{FF2B5EF4-FFF2-40B4-BE49-F238E27FC236}">
                  <a16:creationId xmlns:a16="http://schemas.microsoft.com/office/drawing/2014/main" id="{D3E04FE8-A30B-432D-D1CF-DDEE17A53AE9}"/>
                </a:ext>
              </a:extLst>
            </p:cNvPr>
            <p:cNvSpPr/>
            <p:nvPr/>
          </p:nvSpPr>
          <p:spPr>
            <a:xfrm>
              <a:off x="0" y="1012500"/>
              <a:ext cx="24738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6" name="Google Shape;336;p45">
              <a:extLst>
                <a:ext uri="{FF2B5EF4-FFF2-40B4-BE49-F238E27FC236}">
                  <a16:creationId xmlns:a16="http://schemas.microsoft.com/office/drawing/2014/main" id="{AAA1C54E-2567-A39A-D43C-AD6A46F15684}"/>
                </a:ext>
              </a:extLst>
            </p:cNvPr>
            <p:cNvCxnSpPr/>
            <p:nvPr/>
          </p:nvCxnSpPr>
          <p:spPr>
            <a:xfrm rot="10800000">
              <a:off x="71125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37" name="Google Shape;337;p45">
            <a:extLst>
              <a:ext uri="{FF2B5EF4-FFF2-40B4-BE49-F238E27FC236}">
                <a16:creationId xmlns:a16="http://schemas.microsoft.com/office/drawing/2014/main" id="{ED54EDEB-945B-2FB9-AF03-3D78258A4E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251" y="2037515"/>
            <a:ext cx="7717500" cy="10684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IGRE &amp; FVSS Module</a:t>
            </a:r>
            <a:br>
              <a:rPr lang="fa-IR" sz="3200" dirty="0"/>
            </a:br>
            <a:r>
              <a:rPr lang="en-US" sz="3200" dirty="0"/>
              <a:t>(Reflectance Enhancement)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20236308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AFA952A5-EB81-6781-A3BA-CC95A5CFA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45" name="Google Shape;345;p46">
                <a:extLst>
                  <a:ext uri="{FF2B5EF4-FFF2-40B4-BE49-F238E27FC236}">
                    <a16:creationId xmlns:a16="http://schemas.microsoft.com/office/drawing/2014/main" id="{13929BB8-C2DF-3228-0DB2-91647827A196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771525" y="733425"/>
                <a:ext cx="8253529" cy="3571875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l"/>
                <a:r>
                  <a:rPr lang="en-US" b="1" dirty="0"/>
                  <a:t>Goal:</a:t>
                </a:r>
              </a:p>
              <a:p>
                <a:pPr algn="l"/>
                <a:r>
                  <a:rPr lang="en-US" dirty="0"/>
                  <a:t>Suppress noise amplified by lighting up dark areas and enhance texture details in the reflectance map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).</a:t>
                </a:r>
              </a:p>
              <a:p>
                <a:pPr algn="l"/>
                <a:endParaRPr lang="en-US" dirty="0"/>
              </a:p>
              <a:p>
                <a:pPr algn="l"/>
                <a:r>
                  <a:rPr lang="en-US" b="1" dirty="0"/>
                  <a:t>Innovation (FVSS):</a:t>
                </a:r>
              </a:p>
              <a:p>
                <a:pPr algn="l"/>
                <a:r>
                  <a:rPr lang="en-US" dirty="0"/>
                  <a:t>Introduces a Frequency-aware Visual State Space using Discrete Wavelet Transform (DWT).</a:t>
                </a:r>
              </a:p>
              <a:p>
                <a:pPr algn="l"/>
                <a:endParaRPr lang="en-US" dirty="0"/>
              </a:p>
              <a:p>
                <a:pPr algn="l"/>
                <a:r>
                  <a:rPr lang="en-US" b="1" dirty="0"/>
                  <a:t>Advantage:</a:t>
                </a:r>
              </a:p>
              <a:p>
                <a:pPr algn="l"/>
                <a:r>
                  <a:rPr lang="en-US" dirty="0"/>
                  <a:t>Globally aligns similar texture patterns across different frequencies, allowing mildly degraded regions to guide the restoration of severely degraded areas. </a:t>
                </a:r>
              </a:p>
            </p:txBody>
          </p:sp>
        </mc:Choice>
        <mc:Fallback xmlns="">
          <p:sp>
            <p:nvSpPr>
              <p:cNvPr id="345" name="Google Shape;345;p46">
                <a:extLst>
                  <a:ext uri="{FF2B5EF4-FFF2-40B4-BE49-F238E27FC236}">
                    <a16:creationId xmlns:a16="http://schemas.microsoft.com/office/drawing/2014/main" id="{13929BB8-C2DF-3228-0DB2-91647827A19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71525" y="733425"/>
                <a:ext cx="8253529" cy="35718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91380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BE981C2F-3D23-7FA4-1A08-88F3D01F8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334;p45">
            <a:extLst>
              <a:ext uri="{FF2B5EF4-FFF2-40B4-BE49-F238E27FC236}">
                <a16:creationId xmlns:a16="http://schemas.microsoft.com/office/drawing/2014/main" id="{2E033E03-40B8-F0CF-D7D2-0CC3361A7412}"/>
              </a:ext>
            </a:extLst>
          </p:cNvPr>
          <p:cNvGrpSpPr/>
          <p:nvPr/>
        </p:nvGrpSpPr>
        <p:grpSpPr>
          <a:xfrm>
            <a:off x="0" y="0"/>
            <a:ext cx="2473800" cy="4131000"/>
            <a:chOff x="0" y="0"/>
            <a:chExt cx="2473800" cy="4131000"/>
          </a:xfrm>
        </p:grpSpPr>
        <p:sp>
          <p:nvSpPr>
            <p:cNvPr id="335" name="Google Shape;335;p45">
              <a:extLst>
                <a:ext uri="{FF2B5EF4-FFF2-40B4-BE49-F238E27FC236}">
                  <a16:creationId xmlns:a16="http://schemas.microsoft.com/office/drawing/2014/main" id="{DBD23BA8-635B-3290-9C05-DF6835EBDDC9}"/>
                </a:ext>
              </a:extLst>
            </p:cNvPr>
            <p:cNvSpPr/>
            <p:nvPr/>
          </p:nvSpPr>
          <p:spPr>
            <a:xfrm>
              <a:off x="0" y="1012500"/>
              <a:ext cx="24738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6" name="Google Shape;336;p45">
              <a:extLst>
                <a:ext uri="{FF2B5EF4-FFF2-40B4-BE49-F238E27FC236}">
                  <a16:creationId xmlns:a16="http://schemas.microsoft.com/office/drawing/2014/main" id="{C490C422-54CF-8302-F784-6C8589D198D9}"/>
                </a:ext>
              </a:extLst>
            </p:cNvPr>
            <p:cNvCxnSpPr/>
            <p:nvPr/>
          </p:nvCxnSpPr>
          <p:spPr>
            <a:xfrm rot="10800000">
              <a:off x="71125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37" name="Google Shape;337;p45">
            <a:extLst>
              <a:ext uri="{FF2B5EF4-FFF2-40B4-BE49-F238E27FC236}">
                <a16:creationId xmlns:a16="http://schemas.microsoft.com/office/drawing/2014/main" id="{CFECB05D-084E-E5C9-E922-3BA6965D76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251" y="2032896"/>
            <a:ext cx="7717500" cy="10777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Integration with RK2 Differential Solver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30416169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55CFB8EA-080B-07D1-AB15-F1C3A1A23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6">
            <a:extLst>
              <a:ext uri="{FF2B5EF4-FFF2-40B4-BE49-F238E27FC236}">
                <a16:creationId xmlns:a16="http://schemas.microsoft.com/office/drawing/2014/main" id="{DADE8AC0-727C-78CE-B13A-C29BDE5E0FB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71525" y="733425"/>
            <a:ext cx="8253529" cy="35718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dirty="0"/>
              <a:t>Traditional residual networks are mathematically equivalent to a first-order Euler discretization of an ODE, which carries high truncation errors.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Mathematical Innovation:</a:t>
            </a:r>
          </a:p>
          <a:p>
            <a:pPr algn="l"/>
            <a:r>
              <a:rPr lang="en-US" dirty="0"/>
              <a:t>The FVSS module is embedded within a higher-order Ordinary Differential Equation (ODE) framework—specifically a </a:t>
            </a:r>
            <a:r>
              <a:rPr lang="en-US" b="1" dirty="0"/>
              <a:t>Second-Order Runge-</a:t>
            </a:r>
            <a:r>
              <a:rPr lang="en-US" b="1" dirty="0" err="1"/>
              <a:t>Kutta</a:t>
            </a:r>
            <a:r>
              <a:rPr lang="en-US" b="1" dirty="0"/>
              <a:t> (RK2)</a:t>
            </a:r>
            <a:r>
              <a:rPr lang="en-US" dirty="0"/>
              <a:t> method.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Advantage:</a:t>
            </a:r>
          </a:p>
          <a:p>
            <a:pPr algn="l"/>
            <a:r>
              <a:rPr lang="en-US" dirty="0"/>
              <a:t>Provides much higher numerical accuracy, precisely separating noise from texture and significantly enhancing fine structural details.</a:t>
            </a:r>
          </a:p>
        </p:txBody>
      </p:sp>
    </p:spTree>
    <p:extLst>
      <p:ext uri="{BB962C8B-B14F-4D97-AF65-F5344CB8AC3E}">
        <p14:creationId xmlns:p14="http://schemas.microsoft.com/office/powerpoint/2010/main" val="17713143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6E352321-0459-79DD-36F0-C8294103F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334;p45">
            <a:extLst>
              <a:ext uri="{FF2B5EF4-FFF2-40B4-BE49-F238E27FC236}">
                <a16:creationId xmlns:a16="http://schemas.microsoft.com/office/drawing/2014/main" id="{BE868FAA-4788-B9DD-FD16-35210FB12152}"/>
              </a:ext>
            </a:extLst>
          </p:cNvPr>
          <p:cNvGrpSpPr/>
          <p:nvPr/>
        </p:nvGrpSpPr>
        <p:grpSpPr>
          <a:xfrm>
            <a:off x="0" y="0"/>
            <a:ext cx="2473800" cy="4131000"/>
            <a:chOff x="0" y="0"/>
            <a:chExt cx="2473800" cy="4131000"/>
          </a:xfrm>
        </p:grpSpPr>
        <p:sp>
          <p:nvSpPr>
            <p:cNvPr id="335" name="Google Shape;335;p45">
              <a:extLst>
                <a:ext uri="{FF2B5EF4-FFF2-40B4-BE49-F238E27FC236}">
                  <a16:creationId xmlns:a16="http://schemas.microsoft.com/office/drawing/2014/main" id="{30F3F2EC-CFF5-A2DD-B584-EB9D99A5E1B5}"/>
                </a:ext>
              </a:extLst>
            </p:cNvPr>
            <p:cNvSpPr/>
            <p:nvPr/>
          </p:nvSpPr>
          <p:spPr>
            <a:xfrm>
              <a:off x="0" y="1012500"/>
              <a:ext cx="24738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6" name="Google Shape;336;p45">
              <a:extLst>
                <a:ext uri="{FF2B5EF4-FFF2-40B4-BE49-F238E27FC236}">
                  <a16:creationId xmlns:a16="http://schemas.microsoft.com/office/drawing/2014/main" id="{B487EEA4-16C5-AC0F-F828-57EDE61ECB33}"/>
                </a:ext>
              </a:extLst>
            </p:cNvPr>
            <p:cNvCxnSpPr/>
            <p:nvPr/>
          </p:nvCxnSpPr>
          <p:spPr>
            <a:xfrm rot="10800000">
              <a:off x="71125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37" name="Google Shape;337;p45">
            <a:extLst>
              <a:ext uri="{FF2B5EF4-FFF2-40B4-BE49-F238E27FC236}">
                <a16:creationId xmlns:a16="http://schemas.microsoft.com/office/drawing/2014/main" id="{C5B322F7-E734-85E7-8611-6463548A53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251" y="1973437"/>
            <a:ext cx="7717500" cy="11966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ISIC Loss Function</a:t>
            </a:r>
            <a:br>
              <a:rPr lang="fa-IR" sz="3200" dirty="0"/>
            </a:br>
            <a:r>
              <a:rPr lang="en-US" sz="3200" dirty="0"/>
              <a:t>(Training Innovation)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20507936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52CB11DA-D514-B34D-B0AD-B6DF73F09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6">
            <a:extLst>
              <a:ext uri="{FF2B5EF4-FFF2-40B4-BE49-F238E27FC236}">
                <a16:creationId xmlns:a16="http://schemas.microsoft.com/office/drawing/2014/main" id="{657569A9-2998-915A-D4F8-962D43BB682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71525" y="733426"/>
            <a:ext cx="8253529" cy="35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b="1" dirty="0"/>
              <a:t>Inter-Stage Information Consistency (ISIC) Loss:</a:t>
            </a:r>
          </a:p>
          <a:p>
            <a:pPr algn="l"/>
            <a:r>
              <a:rPr lang="en-US" dirty="0"/>
              <a:t>Applied only during the final two stages of the network.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Goal:</a:t>
            </a:r>
          </a:p>
          <a:p>
            <a:pPr algn="l"/>
            <a:r>
              <a:rPr lang="en-US" dirty="0"/>
              <a:t>Maintains network stability; ensures that small dynamic changes in illumination do not destroy crucial reflectance details (and vice versa).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Special Advantage:</a:t>
            </a:r>
          </a:p>
          <a:p>
            <a:pPr algn="l"/>
            <a:r>
              <a:rPr lang="en-US" dirty="0"/>
              <a:t>Since it acts as a framework-specific self-constraint, it enables the model to be robustly deployed even in unsupervised learning settings.</a:t>
            </a:r>
          </a:p>
        </p:txBody>
      </p:sp>
    </p:spTree>
    <p:extLst>
      <p:ext uri="{BB962C8B-B14F-4D97-AF65-F5344CB8AC3E}">
        <p14:creationId xmlns:p14="http://schemas.microsoft.com/office/powerpoint/2010/main" val="10376623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752B751D-BE58-68C5-FF33-BA2B04F22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334;p45">
            <a:extLst>
              <a:ext uri="{FF2B5EF4-FFF2-40B4-BE49-F238E27FC236}">
                <a16:creationId xmlns:a16="http://schemas.microsoft.com/office/drawing/2014/main" id="{7135B7CE-7CBC-0CAB-5F98-121DE260E2FC}"/>
              </a:ext>
            </a:extLst>
          </p:cNvPr>
          <p:cNvGrpSpPr/>
          <p:nvPr/>
        </p:nvGrpSpPr>
        <p:grpSpPr>
          <a:xfrm>
            <a:off x="0" y="0"/>
            <a:ext cx="2473800" cy="4131000"/>
            <a:chOff x="0" y="0"/>
            <a:chExt cx="2473800" cy="4131000"/>
          </a:xfrm>
        </p:grpSpPr>
        <p:sp>
          <p:nvSpPr>
            <p:cNvPr id="335" name="Google Shape;335;p45">
              <a:extLst>
                <a:ext uri="{FF2B5EF4-FFF2-40B4-BE49-F238E27FC236}">
                  <a16:creationId xmlns:a16="http://schemas.microsoft.com/office/drawing/2014/main" id="{A3F78385-0051-ECF1-E5F3-DF5A9E3218F4}"/>
                </a:ext>
              </a:extLst>
            </p:cNvPr>
            <p:cNvSpPr/>
            <p:nvPr/>
          </p:nvSpPr>
          <p:spPr>
            <a:xfrm>
              <a:off x="0" y="1012500"/>
              <a:ext cx="24738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6" name="Google Shape;336;p45">
              <a:extLst>
                <a:ext uri="{FF2B5EF4-FFF2-40B4-BE49-F238E27FC236}">
                  <a16:creationId xmlns:a16="http://schemas.microsoft.com/office/drawing/2014/main" id="{DDCFB702-D6AB-17CB-898E-18AC0A0A920F}"/>
                </a:ext>
              </a:extLst>
            </p:cNvPr>
            <p:cNvCxnSpPr/>
            <p:nvPr/>
          </p:nvCxnSpPr>
          <p:spPr>
            <a:xfrm rot="10800000">
              <a:off x="71125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37" name="Google Shape;337;p45">
            <a:extLst>
              <a:ext uri="{FF2B5EF4-FFF2-40B4-BE49-F238E27FC236}">
                <a16:creationId xmlns:a16="http://schemas.microsoft.com/office/drawing/2014/main" id="{8A79BFDE-FE00-E38A-2793-2926CF2A17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8398" y="2197156"/>
            <a:ext cx="7387204" cy="7491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200" dirty="0"/>
              <a:t>Quantitative Results &amp; Evaluation</a:t>
            </a:r>
            <a:endParaRPr sz="3200" dirty="0"/>
          </a:p>
        </p:txBody>
      </p:sp>
      <p:sp>
        <p:nvSpPr>
          <p:cNvPr id="338" name="Google Shape;338;p45">
            <a:extLst>
              <a:ext uri="{FF2B5EF4-FFF2-40B4-BE49-F238E27FC236}">
                <a16:creationId xmlns:a16="http://schemas.microsoft.com/office/drawing/2014/main" id="{6E641F4F-9BDA-01D7-915B-FE47BEABF82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512075" y="1012500"/>
            <a:ext cx="961722" cy="8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4400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836086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F9FFF046-3750-A06A-1AED-04C5F5B52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6">
            <a:extLst>
              <a:ext uri="{FF2B5EF4-FFF2-40B4-BE49-F238E27FC236}">
                <a16:creationId xmlns:a16="http://schemas.microsoft.com/office/drawing/2014/main" id="{14B58EDD-2D86-A8B2-016D-1221D5FFB96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71525" y="733426"/>
            <a:ext cx="8253529" cy="35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dirty="0"/>
              <a:t>Extensively evaluated across 5 diverse datasets (LOL, UIEB, BAID, Fundus, and Real-world datasets).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Outperforms leading SOTA methods like Reti-Diff and </a:t>
            </a:r>
            <a:r>
              <a:rPr lang="en-US" dirty="0" err="1"/>
              <a:t>CIDNet</a:t>
            </a:r>
            <a:r>
              <a:rPr lang="en-US" dirty="0"/>
              <a:t> in PSNR, SSIM, and FID metrics.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Lightweight Variants:</a:t>
            </a:r>
          </a:p>
          <a:p>
            <a:pPr algn="l"/>
            <a:r>
              <a:rPr lang="en-US" dirty="0"/>
              <a:t>Introduced "</a:t>
            </a:r>
            <a:r>
              <a:rPr lang="en-US" dirty="0" err="1"/>
              <a:t>UnfoldIR</a:t>
            </a:r>
            <a:r>
              <a:rPr lang="en-US" dirty="0"/>
              <a:t>-t" (Tiny - 0.09M parameters) and "</a:t>
            </a:r>
            <a:r>
              <a:rPr lang="en-US" dirty="0" err="1"/>
              <a:t>UnfoldIR</a:t>
            </a:r>
            <a:r>
              <a:rPr lang="en-US" dirty="0"/>
              <a:t>-s" (Small) versions with extremely low computational overhead, yet achieving competitive performance. </a:t>
            </a:r>
          </a:p>
        </p:txBody>
      </p:sp>
    </p:spTree>
    <p:extLst>
      <p:ext uri="{BB962C8B-B14F-4D97-AF65-F5344CB8AC3E}">
        <p14:creationId xmlns:p14="http://schemas.microsoft.com/office/powerpoint/2010/main" val="7524205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>
          <a:extLst>
            <a:ext uri="{FF2B5EF4-FFF2-40B4-BE49-F238E27FC236}">
              <a16:creationId xmlns:a16="http://schemas.microsoft.com/office/drawing/2014/main" id="{4436695F-9904-BC08-0ACC-78AA175C2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2E4659-E86E-7142-0D24-453C357DC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9446"/>
            <a:ext cx="9144000" cy="394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6111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395F09D9-3491-D565-B3FE-3E9B87454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334;p45">
            <a:extLst>
              <a:ext uri="{FF2B5EF4-FFF2-40B4-BE49-F238E27FC236}">
                <a16:creationId xmlns:a16="http://schemas.microsoft.com/office/drawing/2014/main" id="{D3C27DEA-D94E-035A-B8C6-44A9209B52D2}"/>
              </a:ext>
            </a:extLst>
          </p:cNvPr>
          <p:cNvGrpSpPr/>
          <p:nvPr/>
        </p:nvGrpSpPr>
        <p:grpSpPr>
          <a:xfrm>
            <a:off x="0" y="0"/>
            <a:ext cx="2473800" cy="4131000"/>
            <a:chOff x="0" y="0"/>
            <a:chExt cx="2473800" cy="4131000"/>
          </a:xfrm>
        </p:grpSpPr>
        <p:sp>
          <p:nvSpPr>
            <p:cNvPr id="335" name="Google Shape;335;p45">
              <a:extLst>
                <a:ext uri="{FF2B5EF4-FFF2-40B4-BE49-F238E27FC236}">
                  <a16:creationId xmlns:a16="http://schemas.microsoft.com/office/drawing/2014/main" id="{C52632E5-FB15-78B1-E10B-B799CD7FE213}"/>
                </a:ext>
              </a:extLst>
            </p:cNvPr>
            <p:cNvSpPr/>
            <p:nvPr/>
          </p:nvSpPr>
          <p:spPr>
            <a:xfrm>
              <a:off x="0" y="1012500"/>
              <a:ext cx="24738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6" name="Google Shape;336;p45">
              <a:extLst>
                <a:ext uri="{FF2B5EF4-FFF2-40B4-BE49-F238E27FC236}">
                  <a16:creationId xmlns:a16="http://schemas.microsoft.com/office/drawing/2014/main" id="{2FC21C05-89B0-7AA5-2205-DD838078FCF2}"/>
                </a:ext>
              </a:extLst>
            </p:cNvPr>
            <p:cNvCxnSpPr/>
            <p:nvPr/>
          </p:nvCxnSpPr>
          <p:spPr>
            <a:xfrm rot="10800000">
              <a:off x="71125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37" name="Google Shape;337;p45">
            <a:extLst>
              <a:ext uri="{FF2B5EF4-FFF2-40B4-BE49-F238E27FC236}">
                <a16:creationId xmlns:a16="http://schemas.microsoft.com/office/drawing/2014/main" id="{079DB5CC-130D-142C-0083-9AD2745ED0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49" y="1973437"/>
            <a:ext cx="7717500" cy="11966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Qualitative Results</a:t>
            </a:r>
            <a:br>
              <a:rPr lang="fa-IR" sz="3200" dirty="0"/>
            </a:br>
            <a:r>
              <a:rPr lang="en-US" sz="3200" dirty="0"/>
              <a:t>(Visual Comparison)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18719594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4B9CC4FB-7B31-65A6-135D-296499002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53FFB5-4B24-096A-E4D3-AC4BAD7BBB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3261"/>
            <a:ext cx="9144000" cy="15653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D24798-F59D-5C57-89EE-99F017C101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750450"/>
            <a:ext cx="9144000" cy="175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2152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00163338-88E6-E91B-C200-6BD20EE1C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08F06C-214B-78BF-02A5-F9157FA64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5063"/>
            <a:ext cx="9144000" cy="14826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3B9DBF-449F-73CA-462D-7F2CBF3A7C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71750"/>
            <a:ext cx="9144000" cy="203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1041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DBA65586-89C9-8DC0-6D8E-A214014EA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334;p45">
            <a:extLst>
              <a:ext uri="{FF2B5EF4-FFF2-40B4-BE49-F238E27FC236}">
                <a16:creationId xmlns:a16="http://schemas.microsoft.com/office/drawing/2014/main" id="{9594B15F-E330-6DB4-5928-FEBDE09450DF}"/>
              </a:ext>
            </a:extLst>
          </p:cNvPr>
          <p:cNvGrpSpPr/>
          <p:nvPr/>
        </p:nvGrpSpPr>
        <p:grpSpPr>
          <a:xfrm>
            <a:off x="0" y="0"/>
            <a:ext cx="2473800" cy="4131000"/>
            <a:chOff x="0" y="0"/>
            <a:chExt cx="2473800" cy="4131000"/>
          </a:xfrm>
        </p:grpSpPr>
        <p:sp>
          <p:nvSpPr>
            <p:cNvPr id="335" name="Google Shape;335;p45">
              <a:extLst>
                <a:ext uri="{FF2B5EF4-FFF2-40B4-BE49-F238E27FC236}">
                  <a16:creationId xmlns:a16="http://schemas.microsoft.com/office/drawing/2014/main" id="{37BACF25-8024-E4BA-447B-C4ADDBA49F12}"/>
                </a:ext>
              </a:extLst>
            </p:cNvPr>
            <p:cNvSpPr/>
            <p:nvPr/>
          </p:nvSpPr>
          <p:spPr>
            <a:xfrm>
              <a:off x="0" y="1012500"/>
              <a:ext cx="24738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6" name="Google Shape;336;p45">
              <a:extLst>
                <a:ext uri="{FF2B5EF4-FFF2-40B4-BE49-F238E27FC236}">
                  <a16:creationId xmlns:a16="http://schemas.microsoft.com/office/drawing/2014/main" id="{760281E1-BC6B-455D-612E-087D35BA9F4C}"/>
                </a:ext>
              </a:extLst>
            </p:cNvPr>
            <p:cNvCxnSpPr/>
            <p:nvPr/>
          </p:nvCxnSpPr>
          <p:spPr>
            <a:xfrm rot="10800000">
              <a:off x="71125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37" name="Google Shape;337;p45">
            <a:extLst>
              <a:ext uri="{FF2B5EF4-FFF2-40B4-BE49-F238E27FC236}">
                <a16:creationId xmlns:a16="http://schemas.microsoft.com/office/drawing/2014/main" id="{F5578A3D-08A7-D029-E258-FFD1F8BAB8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1249" y="2240850"/>
            <a:ext cx="77175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Impact on Downstream Tasks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14457044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B87424BB-5EA3-5D8B-0E7E-3E67D7385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6">
            <a:extLst>
              <a:ext uri="{FF2B5EF4-FFF2-40B4-BE49-F238E27FC236}">
                <a16:creationId xmlns:a16="http://schemas.microsoft.com/office/drawing/2014/main" id="{ABE6C551-BBF6-9028-96F1-EBB75232366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71525" y="733426"/>
            <a:ext cx="8253529" cy="35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b="1" dirty="0"/>
              <a:t>Low-light Object Detection (</a:t>
            </a:r>
            <a:r>
              <a:rPr lang="en-US" b="1" dirty="0" err="1"/>
              <a:t>ExDark</a:t>
            </a:r>
            <a:r>
              <a:rPr lang="en-US" b="1" dirty="0"/>
              <a:t> Dataset):</a:t>
            </a:r>
          </a:p>
          <a:p>
            <a:pPr algn="l"/>
            <a:r>
              <a:rPr lang="en-US" dirty="0"/>
              <a:t>Significant improvement in mean Average Precision (</a:t>
            </a:r>
            <a:r>
              <a:rPr lang="en-US" dirty="0" err="1"/>
              <a:t>mAP</a:t>
            </a:r>
            <a:r>
              <a:rPr lang="en-US" dirty="0"/>
              <a:t>) when using YOLO on </a:t>
            </a:r>
            <a:r>
              <a:rPr lang="en-US" dirty="0" err="1"/>
              <a:t>UnfoldIR</a:t>
            </a:r>
            <a:r>
              <a:rPr lang="en-US" dirty="0"/>
              <a:t>-preprocessed images.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Image Segmentation:</a:t>
            </a:r>
          </a:p>
          <a:p>
            <a:pPr algn="l"/>
            <a:r>
              <a:rPr lang="en-US" dirty="0"/>
              <a:t>Increased Intersection over Union (</a:t>
            </a:r>
            <a:r>
              <a:rPr lang="en-US" dirty="0" err="1"/>
              <a:t>IoU</a:t>
            </a:r>
            <a:r>
              <a:rPr lang="en-US" dirty="0"/>
              <a:t>) accuracy in both semantic segmentation and concealed object segmentation.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Implication:</a:t>
            </a:r>
          </a:p>
          <a:p>
            <a:pPr algn="l"/>
            <a:r>
              <a:rPr lang="en-US" dirty="0"/>
              <a:t>The outputs are not only visually pleasing to human eyes but also make the input data much more meaningful and interpretable for high-level machine vision algorithms.</a:t>
            </a:r>
          </a:p>
        </p:txBody>
      </p:sp>
    </p:spTree>
    <p:extLst>
      <p:ext uri="{BB962C8B-B14F-4D97-AF65-F5344CB8AC3E}">
        <p14:creationId xmlns:p14="http://schemas.microsoft.com/office/powerpoint/2010/main" val="22721559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4AD23858-A980-B13D-8F2A-E27437A8C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334;p45">
            <a:extLst>
              <a:ext uri="{FF2B5EF4-FFF2-40B4-BE49-F238E27FC236}">
                <a16:creationId xmlns:a16="http://schemas.microsoft.com/office/drawing/2014/main" id="{CF69E176-FC6F-ECE9-8AA0-EA9564F3ED61}"/>
              </a:ext>
            </a:extLst>
          </p:cNvPr>
          <p:cNvGrpSpPr/>
          <p:nvPr/>
        </p:nvGrpSpPr>
        <p:grpSpPr>
          <a:xfrm>
            <a:off x="0" y="0"/>
            <a:ext cx="2473800" cy="4131000"/>
            <a:chOff x="0" y="0"/>
            <a:chExt cx="2473800" cy="4131000"/>
          </a:xfrm>
        </p:grpSpPr>
        <p:sp>
          <p:nvSpPr>
            <p:cNvPr id="335" name="Google Shape;335;p45">
              <a:extLst>
                <a:ext uri="{FF2B5EF4-FFF2-40B4-BE49-F238E27FC236}">
                  <a16:creationId xmlns:a16="http://schemas.microsoft.com/office/drawing/2014/main" id="{222FB81A-BCA9-DB39-3B68-B112E6EA0321}"/>
                </a:ext>
              </a:extLst>
            </p:cNvPr>
            <p:cNvSpPr/>
            <p:nvPr/>
          </p:nvSpPr>
          <p:spPr>
            <a:xfrm>
              <a:off x="0" y="1012500"/>
              <a:ext cx="24738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6" name="Google Shape;336;p45">
              <a:extLst>
                <a:ext uri="{FF2B5EF4-FFF2-40B4-BE49-F238E27FC236}">
                  <a16:creationId xmlns:a16="http://schemas.microsoft.com/office/drawing/2014/main" id="{1BDEEEF4-8768-CB0F-CC67-EE5CD4081986}"/>
                </a:ext>
              </a:extLst>
            </p:cNvPr>
            <p:cNvCxnSpPr/>
            <p:nvPr/>
          </p:nvCxnSpPr>
          <p:spPr>
            <a:xfrm rot="10800000">
              <a:off x="71125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37" name="Google Shape;337;p45">
            <a:extLst>
              <a:ext uri="{FF2B5EF4-FFF2-40B4-BE49-F238E27FC236}">
                <a16:creationId xmlns:a16="http://schemas.microsoft.com/office/drawing/2014/main" id="{3E527585-507A-4E8D-8B02-3AE6893626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8398" y="2197156"/>
            <a:ext cx="7387203" cy="7491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200" dirty="0"/>
              <a:t>Conclusion &amp; Limitations</a:t>
            </a:r>
            <a:endParaRPr sz="3200" dirty="0"/>
          </a:p>
        </p:txBody>
      </p:sp>
      <p:sp>
        <p:nvSpPr>
          <p:cNvPr id="338" name="Google Shape;338;p45">
            <a:extLst>
              <a:ext uri="{FF2B5EF4-FFF2-40B4-BE49-F238E27FC236}">
                <a16:creationId xmlns:a16="http://schemas.microsoft.com/office/drawing/2014/main" id="{38B1C95C-9754-B5FC-7016-030053CC21C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512075" y="1012500"/>
            <a:ext cx="961721" cy="8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4400" dirty="0"/>
              <a:t>0</a:t>
            </a:r>
            <a:r>
              <a:rPr lang="en" sz="4400" dirty="0"/>
              <a:t>4</a:t>
            </a:r>
            <a:endParaRPr sz="4400" dirty="0"/>
          </a:p>
        </p:txBody>
      </p:sp>
    </p:spTree>
    <p:extLst>
      <p:ext uri="{BB962C8B-B14F-4D97-AF65-F5344CB8AC3E}">
        <p14:creationId xmlns:p14="http://schemas.microsoft.com/office/powerpoint/2010/main" val="28468157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02C1E281-D182-6450-A1DF-90CF3A7F6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6">
            <a:extLst>
              <a:ext uri="{FF2B5EF4-FFF2-40B4-BE49-F238E27FC236}">
                <a16:creationId xmlns:a16="http://schemas.microsoft.com/office/drawing/2014/main" id="{602AC956-162A-2A9C-0B9A-B4E29A55DD7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71525" y="733426"/>
            <a:ext cx="8253529" cy="35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b="1" dirty="0"/>
              <a:t>Conclusion:</a:t>
            </a:r>
          </a:p>
          <a:p>
            <a:pPr algn="l"/>
            <a:r>
              <a:rPr lang="en-US" dirty="0" err="1"/>
              <a:t>UnfoldIR</a:t>
            </a:r>
            <a:r>
              <a:rPr lang="en-US" dirty="0"/>
              <a:t> unlocks the true potential of DUNs by seamlessly integrating </a:t>
            </a:r>
            <a:r>
              <a:rPr lang="en-US" dirty="0" err="1"/>
              <a:t>Retinex</a:t>
            </a:r>
            <a:r>
              <a:rPr lang="en-US" dirty="0"/>
              <a:t> theory, Visual State Space (VSS) architecture, and advanced ODE solvers (RK2).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Limitations:</a:t>
            </a:r>
          </a:p>
          <a:p>
            <a:pPr algn="l"/>
            <a:r>
              <a:rPr lang="en-US" dirty="0"/>
              <a:t>The network sometimes misinterprets extremely subtle textures in the darkest regions as noise and inadvertently removes them (</a:t>
            </a:r>
            <a:r>
              <a:rPr lang="en-US" i="1" dirty="0"/>
              <a:t>Fig. A5</a:t>
            </a:r>
            <a:r>
              <a:rPr lang="en-US" dirty="0"/>
              <a:t>).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Future Work:</a:t>
            </a:r>
          </a:p>
          <a:p>
            <a:pPr algn="l"/>
            <a:r>
              <a:rPr lang="en-US" dirty="0"/>
              <a:t>Integrating generative techniques (like Diffusion Models) and high-level vision priors for better semantic context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2284591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23845C-445C-EFEB-647B-72098CAAD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2089"/>
            <a:ext cx="9144000" cy="161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339830"/>
      </p:ext>
    </p:extLst>
  </p:cSld>
  <p:clrMapOvr>
    <a:masterClrMapping/>
  </p:clrMapOvr>
</p:sld>
</file>

<file path=ppt/theme/theme1.xml><?xml version="1.0" encoding="utf-8"?>
<a:theme xmlns:a="http://schemas.openxmlformats.org/drawingml/2006/main" name="Formulating a Research Problem for University Students by Slidesgo">
  <a:themeElements>
    <a:clrScheme name="Simple Light">
      <a:dk1>
        <a:srgbClr val="0A0A0A"/>
      </a:dk1>
      <a:lt1>
        <a:srgbClr val="F9F9F9"/>
      </a:lt1>
      <a:dk2>
        <a:srgbClr val="DDDDDD"/>
      </a:dk2>
      <a:lt2>
        <a:srgbClr val="B3B4B3"/>
      </a:lt2>
      <a:accent1>
        <a:srgbClr val="878887"/>
      </a:accent1>
      <a:accent2>
        <a:srgbClr val="5F616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A0A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1002</Words>
  <Application>Microsoft Office PowerPoint</Application>
  <PresentationFormat>On-screen Show (16:9)</PresentationFormat>
  <Paragraphs>137</Paragraphs>
  <Slides>35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Golos Text SemiBold</vt:lpstr>
      <vt:lpstr>Golos Text</vt:lpstr>
      <vt:lpstr>Commissioner</vt:lpstr>
      <vt:lpstr>Cambria Math</vt:lpstr>
      <vt:lpstr>Arial</vt:lpstr>
      <vt:lpstr>Formulating a Research Problem for University Students by Slidesgo</vt:lpstr>
      <vt:lpstr>UnfoldIR - Rethinking Deep Unfolding Network in Illumination Degradation Image Restoration</vt:lpstr>
      <vt:lpstr>Table of contents</vt:lpstr>
      <vt:lpstr>Introduction &amp; Problem Statement</vt:lpstr>
      <vt:lpstr>PowerPoint Presentation</vt:lpstr>
      <vt:lpstr>PowerPoint Presentation</vt:lpstr>
      <vt:lpstr>Existing Approaches &amp; Challenges</vt:lpstr>
      <vt:lpstr>PowerPoint Presentation</vt:lpstr>
      <vt:lpstr>Motivation &amp; Main Idea (UnfoldIR)</vt:lpstr>
      <vt:lpstr>PowerPoint Presentation</vt:lpstr>
      <vt:lpstr>Mathematical Modeling (Retinex Theory)</vt:lpstr>
      <vt:lpstr>PowerPoint Presentation</vt:lpstr>
      <vt:lpstr>Optimization via Proximal Gradient Algorithm</vt:lpstr>
      <vt:lpstr>PowerPoint Presentation</vt:lpstr>
      <vt:lpstr>Overall Architecture of UnfoldIR</vt:lpstr>
      <vt:lpstr>PowerPoint Presentation</vt:lpstr>
      <vt:lpstr>PowerPoint Presentation</vt:lpstr>
      <vt:lpstr>RAIC Module (Illumination Correction)</vt:lpstr>
      <vt:lpstr>PowerPoint Presentation</vt:lpstr>
      <vt:lpstr>IGRE &amp; FVSS Module (Reflectance Enhancement)</vt:lpstr>
      <vt:lpstr>PowerPoint Presentation</vt:lpstr>
      <vt:lpstr>Integration with RK2 Differential Solver</vt:lpstr>
      <vt:lpstr>PowerPoint Presentation</vt:lpstr>
      <vt:lpstr>ISIC Loss Function (Training Innovation)</vt:lpstr>
      <vt:lpstr>PowerPoint Presentation</vt:lpstr>
      <vt:lpstr>Quantitative Results &amp; Evaluation</vt:lpstr>
      <vt:lpstr>PowerPoint Presentation</vt:lpstr>
      <vt:lpstr>PowerPoint Presentation</vt:lpstr>
      <vt:lpstr>Qualitative Results (Visual Comparison)</vt:lpstr>
      <vt:lpstr>PowerPoint Presentation</vt:lpstr>
      <vt:lpstr>PowerPoint Presentation</vt:lpstr>
      <vt:lpstr>Impact on Downstream Tasks</vt:lpstr>
      <vt:lpstr>PowerPoint Presentation</vt:lpstr>
      <vt:lpstr>Conclusion &amp; Limitations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Mohamad</dc:creator>
  <cp:lastModifiedBy>Mohamad</cp:lastModifiedBy>
  <cp:revision>6</cp:revision>
  <dcterms:modified xsi:type="dcterms:W3CDTF">2026-07-26T17:27:31Z</dcterms:modified>
</cp:coreProperties>
</file>